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relia" charset="1" panose="00000500000000000000"/>
      <p:regular r:id="rId14"/>
    </p:embeddedFont>
    <p:embeddedFont>
      <p:font typeface="Poppins" charset="1" panose="00000500000000000000"/>
      <p:regular r:id="rId15"/>
    </p:embeddedFont>
    <p:embeddedFont>
      <p:font typeface="Poppins Bold" charset="1" panose="00000800000000000000"/>
      <p:regular r:id="rId16"/>
    </p:embeddedFont>
    <p:embeddedFont>
      <p:font typeface="Calibri (MS) Bold" charset="1" panose="020F0702030404030204"/>
      <p:regular r:id="rId17"/>
    </p:embeddedFont>
    <p:embeddedFont>
      <p:font typeface="Calibri (MS)" charset="1" panose="020F050202020403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sv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png" Type="http://schemas.openxmlformats.org/officeDocument/2006/relationships/image"/><Relationship Id="rId20" Target="../media/image30.pn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png" Type="http://schemas.openxmlformats.org/officeDocument/2006/relationships/image"/><Relationship Id="rId27" Target="../media/image37.svg" Type="http://schemas.openxmlformats.org/officeDocument/2006/relationships/image"/><Relationship Id="rId28" Target="../media/image38.png" Type="http://schemas.openxmlformats.org/officeDocument/2006/relationships/image"/><Relationship Id="rId29" Target="../media/image39.svg" Type="http://schemas.openxmlformats.org/officeDocument/2006/relationships/image"/><Relationship Id="rId3" Target="../media/image5.jpeg" Type="http://schemas.openxmlformats.org/officeDocument/2006/relationships/image"/><Relationship Id="rId30" Target="../media/image40.png" Type="http://schemas.openxmlformats.org/officeDocument/2006/relationships/image"/><Relationship Id="rId31" Target="../media/image41.png" Type="http://schemas.openxmlformats.org/officeDocument/2006/relationships/image"/><Relationship Id="rId32" Target="../media/image42.svg" Type="http://schemas.openxmlformats.org/officeDocument/2006/relationships/image"/><Relationship Id="rId4" Target="../media/image6.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https://github.com/anhtnt90dev/rookies-data-dn-2026/blob/0d42357af1d96d4d43167e3c045e6b1b1d86e8b0/docs/business-process/diagram/bpmn.sv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57.png" Type="http://schemas.openxmlformats.org/officeDocument/2006/relationships/image"/><Relationship Id="rId18" Target="../media/image58.svg" Type="http://schemas.openxmlformats.org/officeDocument/2006/relationships/image"/><Relationship Id="rId19" Target="../media/image59.png" Type="http://schemas.openxmlformats.org/officeDocument/2006/relationships/image"/><Relationship Id="rId2" Target="../media/image1.png" Type="http://schemas.openxmlformats.org/officeDocument/2006/relationships/image"/><Relationship Id="rId20" Target="../media/image60.svg" Type="http://schemas.openxmlformats.org/officeDocument/2006/relationships/image"/><Relationship Id="rId21" Target="../media/image61.png" Type="http://schemas.openxmlformats.org/officeDocument/2006/relationships/image"/><Relationship Id="rId22" Target="../media/image62.svg" Type="http://schemas.openxmlformats.org/officeDocument/2006/relationships/image"/><Relationship Id="rId23" Target="../media/image63.png" Type="http://schemas.openxmlformats.org/officeDocument/2006/relationships/image"/><Relationship Id="rId24" Target="../media/image64.svg" Type="http://schemas.openxmlformats.org/officeDocument/2006/relationships/image"/><Relationship Id="rId25" Target="../media/image65.png" Type="http://schemas.openxmlformats.org/officeDocument/2006/relationships/image"/><Relationship Id="rId26" Target="../media/image66.svg" Type="http://schemas.openxmlformats.org/officeDocument/2006/relationships/image"/><Relationship Id="rId27" Target="../media/image67.png" Type="http://schemas.openxmlformats.org/officeDocument/2006/relationships/image"/><Relationship Id="rId28" Target="../media/image68.svg" Type="http://schemas.openxmlformats.org/officeDocument/2006/relationships/image"/><Relationship Id="rId29" Target="../media/image69.png" Type="http://schemas.openxmlformats.org/officeDocument/2006/relationships/image"/><Relationship Id="rId3" Target="../media/image5.jpeg" Type="http://schemas.openxmlformats.org/officeDocument/2006/relationships/image"/><Relationship Id="rId30" Target="../media/image70.svg" Type="http://schemas.openxmlformats.org/officeDocument/2006/relationships/image"/><Relationship Id="rId31" Target="../media/image71.png" Type="http://schemas.openxmlformats.org/officeDocument/2006/relationships/image"/><Relationship Id="rId32" Target="../media/image72.svg" Type="http://schemas.openxmlformats.org/officeDocument/2006/relationships/image"/><Relationship Id="rId4" Target="../media/image6.jpe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png" Type="http://schemas.openxmlformats.org/officeDocument/2006/relationships/image"/><Relationship Id="rId11" Target="../media/image79.png" Type="http://schemas.openxmlformats.org/officeDocument/2006/relationships/image"/><Relationship Id="rId12" Target="../media/image80.svg" Type="http://schemas.openxmlformats.org/officeDocument/2006/relationships/image"/><Relationship Id="rId13" Target="../media/image81.pn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16" Target="../media/image84.png" Type="http://schemas.openxmlformats.org/officeDocument/2006/relationships/image"/><Relationship Id="rId17" Target="../media/image85.png" Type="http://schemas.openxmlformats.org/officeDocument/2006/relationships/image"/><Relationship Id="rId18" Target="../media/image86.svg" Type="http://schemas.openxmlformats.org/officeDocument/2006/relationships/image"/><Relationship Id="rId19" Target="../media/image87.png" Type="http://schemas.openxmlformats.org/officeDocument/2006/relationships/image"/><Relationship Id="rId2" Target="../media/image1.png" Type="http://schemas.openxmlformats.org/officeDocument/2006/relationships/image"/><Relationship Id="rId20" Target="../media/image88.png" Type="http://schemas.openxmlformats.org/officeDocument/2006/relationships/image"/><Relationship Id="rId21" Target="../media/image89.svg" Type="http://schemas.openxmlformats.org/officeDocument/2006/relationships/image"/><Relationship Id="rId22" Target="../media/image90.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7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97.png" Type="http://schemas.openxmlformats.org/officeDocument/2006/relationships/image"/><Relationship Id="rId12" Target="../media/image98.svg" Type="http://schemas.openxmlformats.org/officeDocument/2006/relationships/image"/><Relationship Id="rId13" Target="../media/image99.png" Type="http://schemas.openxmlformats.org/officeDocument/2006/relationships/image"/><Relationship Id="rId14" Target="../media/image100.svg" Type="http://schemas.openxmlformats.org/officeDocument/2006/relationships/image"/><Relationship Id="rId15" Target="../media/image101.png" Type="http://schemas.openxmlformats.org/officeDocument/2006/relationships/image"/><Relationship Id="rId16" Target="../media/image102.svg" Type="http://schemas.openxmlformats.org/officeDocument/2006/relationships/image"/><Relationship Id="rId17" Target="../media/image103.png" Type="http://schemas.openxmlformats.org/officeDocument/2006/relationships/image"/><Relationship Id="rId18" Target="../media/image104.svg" Type="http://schemas.openxmlformats.org/officeDocument/2006/relationships/image"/><Relationship Id="rId19" Target="../media/image105.png" Type="http://schemas.openxmlformats.org/officeDocument/2006/relationships/image"/><Relationship Id="rId2" Target="../media/image1.png" Type="http://schemas.openxmlformats.org/officeDocument/2006/relationships/image"/><Relationship Id="rId20" Target="../media/image106.svg" Type="http://schemas.openxmlformats.org/officeDocument/2006/relationships/image"/><Relationship Id="rId21" Target="../media/image107.png" Type="http://schemas.openxmlformats.org/officeDocument/2006/relationships/image"/><Relationship Id="rId22" Target="../media/image108.svg" Type="http://schemas.openxmlformats.org/officeDocument/2006/relationships/image"/><Relationship Id="rId23" Target="../media/image109.png" Type="http://schemas.openxmlformats.org/officeDocument/2006/relationships/image"/><Relationship Id="rId24" Target="../media/image110.svg" Type="http://schemas.openxmlformats.org/officeDocument/2006/relationships/image"/><Relationship Id="rId25" Target="../media/image111.png" Type="http://schemas.openxmlformats.org/officeDocument/2006/relationships/image"/><Relationship Id="rId26" Target="../media/image112.svg" Type="http://schemas.openxmlformats.org/officeDocument/2006/relationships/image"/><Relationship Id="rId27" Target="../media/image113.png" Type="http://schemas.openxmlformats.org/officeDocument/2006/relationships/image"/><Relationship Id="rId28" Target="../media/image114.svg" Type="http://schemas.openxmlformats.org/officeDocument/2006/relationships/image"/><Relationship Id="rId29" Target="../media/image115.png" Type="http://schemas.openxmlformats.org/officeDocument/2006/relationships/image"/><Relationship Id="rId3" Target="../media/image5.jpeg" Type="http://schemas.openxmlformats.org/officeDocument/2006/relationships/image"/><Relationship Id="rId30" Target="../media/image116.svg" Type="http://schemas.openxmlformats.org/officeDocument/2006/relationships/image"/><Relationship Id="rId31" Target="../media/image117.png" Type="http://schemas.openxmlformats.org/officeDocument/2006/relationships/image"/><Relationship Id="rId32" Target="../media/image118.svg" Type="http://schemas.openxmlformats.org/officeDocument/2006/relationships/image"/><Relationship Id="rId4" Target="../media/image6.jpeg" Type="http://schemas.openxmlformats.org/officeDocument/2006/relationships/image"/><Relationship Id="rId5" Target="../media/image91.png" Type="http://schemas.openxmlformats.org/officeDocument/2006/relationships/image"/><Relationship Id="rId6" Target="../media/image92.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1581" t="-2077" r="-496" b="0"/>
            </a:stretch>
          </a:blipFill>
        </p:spPr>
      </p:sp>
      <p:sp>
        <p:nvSpPr>
          <p:cNvPr name="Freeform 3" id="3"/>
          <p:cNvSpPr/>
          <p:nvPr/>
        </p:nvSpPr>
        <p:spPr>
          <a:xfrm flipH="false" flipV="false" rot="0">
            <a:off x="2735222" y="-2177610"/>
            <a:ext cx="3059472" cy="3053910"/>
          </a:xfrm>
          <a:custGeom>
            <a:avLst/>
            <a:gdLst/>
            <a:ahLst/>
            <a:cxnLst/>
            <a:rect r="r" b="b" t="t" l="l"/>
            <a:pathLst>
              <a:path h="3053910" w="3059472">
                <a:moveTo>
                  <a:pt x="0" y="0"/>
                </a:moveTo>
                <a:lnTo>
                  <a:pt x="3059472" y="0"/>
                </a:lnTo>
                <a:lnTo>
                  <a:pt x="3059472" y="3053910"/>
                </a:lnTo>
                <a:lnTo>
                  <a:pt x="0" y="3053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7792761">
            <a:off x="7962186" y="6830943"/>
            <a:ext cx="10010565" cy="5502447"/>
            <a:chOff x="0" y="0"/>
            <a:chExt cx="762466" cy="419100"/>
          </a:xfrm>
        </p:grpSpPr>
        <p:sp>
          <p:nvSpPr>
            <p:cNvPr name="Freeform 5" id="5"/>
            <p:cNvSpPr/>
            <p:nvPr/>
          </p:nvSpPr>
          <p:spPr>
            <a:xfrm flipH="false" flipV="false" rot="0">
              <a:off x="0" y="0"/>
              <a:ext cx="762466" cy="419100"/>
            </a:xfrm>
            <a:custGeom>
              <a:avLst/>
              <a:gdLst/>
              <a:ahLst/>
              <a:cxnLst/>
              <a:rect r="r" b="b" t="t" l="l"/>
              <a:pathLst>
                <a:path h="419100" w="762466">
                  <a:moveTo>
                    <a:pt x="0" y="0"/>
                  </a:moveTo>
                  <a:lnTo>
                    <a:pt x="546885" y="0"/>
                  </a:lnTo>
                  <a:cubicBezTo>
                    <a:pt x="667535" y="0"/>
                    <a:pt x="762466" y="93819"/>
                    <a:pt x="762466" y="209550"/>
                  </a:cubicBezTo>
                  <a:cubicBezTo>
                    <a:pt x="762466" y="325281"/>
                    <a:pt x="667535" y="419100"/>
                    <a:pt x="546885"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6" id="6"/>
            <p:cNvSpPr txBox="true"/>
            <p:nvPr/>
          </p:nvSpPr>
          <p:spPr>
            <a:xfrm>
              <a:off x="25400" y="-66675"/>
              <a:ext cx="533866" cy="485775"/>
            </a:xfrm>
            <a:prstGeom prst="rect">
              <a:avLst/>
            </a:prstGeom>
          </p:spPr>
          <p:txBody>
            <a:bodyPr anchor="ctr" rtlCol="false" tIns="50800" lIns="50800" bIns="50800" rIns="50800"/>
            <a:lstStyle/>
            <a:p>
              <a:pPr algn="ctr">
                <a:lnSpc>
                  <a:spcPts val="2800"/>
                </a:lnSpc>
              </a:pPr>
            </a:p>
          </p:txBody>
        </p:sp>
      </p:grpSp>
      <p:grpSp>
        <p:nvGrpSpPr>
          <p:cNvPr name="Group 7" id="7"/>
          <p:cNvGrpSpPr/>
          <p:nvPr/>
        </p:nvGrpSpPr>
        <p:grpSpPr>
          <a:xfrm rot="2966110">
            <a:off x="9368195" y="-1018331"/>
            <a:ext cx="9249125" cy="5502447"/>
            <a:chOff x="0" y="0"/>
            <a:chExt cx="704470" cy="419100"/>
          </a:xfrm>
        </p:grpSpPr>
        <p:sp>
          <p:nvSpPr>
            <p:cNvPr name="Freeform 8" id="8"/>
            <p:cNvSpPr/>
            <p:nvPr/>
          </p:nvSpPr>
          <p:spPr>
            <a:xfrm flipH="false" flipV="false" rot="0">
              <a:off x="0" y="0"/>
              <a:ext cx="704470" cy="419100"/>
            </a:xfrm>
            <a:custGeom>
              <a:avLst/>
              <a:gdLst/>
              <a:ahLst/>
              <a:cxnLst/>
              <a:rect r="r" b="b" t="t" l="l"/>
              <a:pathLst>
                <a:path h="419100" w="704470">
                  <a:moveTo>
                    <a:pt x="0" y="0"/>
                  </a:moveTo>
                  <a:lnTo>
                    <a:pt x="490234" y="0"/>
                  </a:lnTo>
                  <a:cubicBezTo>
                    <a:pt x="609539" y="0"/>
                    <a:pt x="704470" y="93819"/>
                    <a:pt x="704470" y="209550"/>
                  </a:cubicBezTo>
                  <a:cubicBezTo>
                    <a:pt x="704470" y="325281"/>
                    <a:pt x="609539" y="419100"/>
                    <a:pt x="490234"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9" id="9"/>
            <p:cNvSpPr txBox="true"/>
            <p:nvPr/>
          </p:nvSpPr>
          <p:spPr>
            <a:xfrm>
              <a:off x="25400" y="-66675"/>
              <a:ext cx="475870" cy="485775"/>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028700" y="1454336"/>
            <a:ext cx="2421953" cy="536795"/>
            <a:chOff x="0" y="0"/>
            <a:chExt cx="515564" cy="114268"/>
          </a:xfrm>
        </p:grpSpPr>
        <p:sp>
          <p:nvSpPr>
            <p:cNvPr name="Freeform 11" id="11"/>
            <p:cNvSpPr/>
            <p:nvPr/>
          </p:nvSpPr>
          <p:spPr>
            <a:xfrm flipH="false" flipV="false" rot="0">
              <a:off x="0" y="0"/>
              <a:ext cx="515564" cy="114268"/>
            </a:xfrm>
            <a:custGeom>
              <a:avLst/>
              <a:gdLst/>
              <a:ahLst/>
              <a:cxnLst/>
              <a:rect r="r" b="b" t="t" l="l"/>
              <a:pathLst>
                <a:path h="114268" w="515564">
                  <a:moveTo>
                    <a:pt x="57134" y="0"/>
                  </a:moveTo>
                  <a:lnTo>
                    <a:pt x="458430" y="0"/>
                  </a:lnTo>
                  <a:cubicBezTo>
                    <a:pt x="473583" y="0"/>
                    <a:pt x="488115" y="6019"/>
                    <a:pt x="498830" y="16734"/>
                  </a:cubicBezTo>
                  <a:cubicBezTo>
                    <a:pt x="509545" y="27449"/>
                    <a:pt x="515564" y="41981"/>
                    <a:pt x="515564" y="57134"/>
                  </a:cubicBezTo>
                  <a:lnTo>
                    <a:pt x="515564" y="57134"/>
                  </a:lnTo>
                  <a:cubicBezTo>
                    <a:pt x="515564" y="88688"/>
                    <a:pt x="489984" y="114268"/>
                    <a:pt x="458430" y="114268"/>
                  </a:cubicBezTo>
                  <a:lnTo>
                    <a:pt x="57134" y="114268"/>
                  </a:lnTo>
                  <a:cubicBezTo>
                    <a:pt x="25580" y="114268"/>
                    <a:pt x="0" y="88688"/>
                    <a:pt x="0" y="57134"/>
                  </a:cubicBezTo>
                  <a:lnTo>
                    <a:pt x="0" y="57134"/>
                  </a:lnTo>
                  <a:cubicBezTo>
                    <a:pt x="0" y="25580"/>
                    <a:pt x="25580" y="0"/>
                    <a:pt x="57134" y="0"/>
                  </a:cubicBezTo>
                  <a:close/>
                </a:path>
              </a:pathLst>
            </a:custGeom>
            <a:gradFill rotWithShape="true">
              <a:gsLst>
                <a:gs pos="0">
                  <a:srgbClr val="831864">
                    <a:alpha val="100000"/>
                  </a:srgbClr>
                </a:gs>
                <a:gs pos="50000">
                  <a:srgbClr val="AD0C40">
                    <a:alpha val="100000"/>
                  </a:srgbClr>
                </a:gs>
                <a:gs pos="100000">
                  <a:srgbClr val="D6001C">
                    <a:alpha val="100000"/>
                  </a:srgbClr>
                </a:gs>
              </a:gsLst>
              <a:lin ang="0"/>
            </a:gradFill>
          </p:spPr>
        </p:sp>
        <p:sp>
          <p:nvSpPr>
            <p:cNvPr name="TextBox 12" id="12"/>
            <p:cNvSpPr txBox="true"/>
            <p:nvPr/>
          </p:nvSpPr>
          <p:spPr>
            <a:xfrm>
              <a:off x="0" y="-66675"/>
              <a:ext cx="515564" cy="180943"/>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true" flipV="false" rot="0">
            <a:off x="8166987" y="3490609"/>
            <a:ext cx="11218678" cy="5808708"/>
          </a:xfrm>
          <a:custGeom>
            <a:avLst/>
            <a:gdLst/>
            <a:ahLst/>
            <a:cxnLst/>
            <a:rect r="r" b="b" t="t" l="l"/>
            <a:pathLst>
              <a:path h="5808708" w="11218678">
                <a:moveTo>
                  <a:pt x="11218677" y="0"/>
                </a:moveTo>
                <a:lnTo>
                  <a:pt x="0" y="0"/>
                </a:lnTo>
                <a:lnTo>
                  <a:pt x="0" y="5808708"/>
                </a:lnTo>
                <a:lnTo>
                  <a:pt x="11218677" y="5808708"/>
                </a:lnTo>
                <a:lnTo>
                  <a:pt x="11218677" y="0"/>
                </a:lnTo>
                <a:close/>
              </a:path>
            </a:pathLst>
          </a:custGeom>
          <a:blipFill>
            <a:blip r:embed="rId5"/>
            <a:stretch>
              <a:fillRect l="-11289" t="-63082" r="-41425" b="-33727"/>
            </a:stretch>
          </a:blipFill>
        </p:spPr>
      </p:sp>
      <p:sp>
        <p:nvSpPr>
          <p:cNvPr name="TextBox 14" id="14"/>
          <p:cNvSpPr txBox="true"/>
          <p:nvPr/>
        </p:nvSpPr>
        <p:spPr>
          <a:xfrm rot="0">
            <a:off x="1028700" y="3172292"/>
            <a:ext cx="8604983" cy="2310891"/>
          </a:xfrm>
          <a:prstGeom prst="rect">
            <a:avLst/>
          </a:prstGeom>
        </p:spPr>
        <p:txBody>
          <a:bodyPr anchor="t" rtlCol="false" tIns="0" lIns="0" bIns="0" rIns="0">
            <a:spAutoFit/>
          </a:bodyPr>
          <a:lstStyle/>
          <a:p>
            <a:pPr algn="l">
              <a:lnSpc>
                <a:spcPts val="9013"/>
              </a:lnSpc>
            </a:pPr>
            <a:r>
              <a:rPr lang="en-US" sz="8194">
                <a:solidFill>
                  <a:srgbClr val="000000"/>
                </a:solidFill>
                <a:latin typeface="Carelia"/>
                <a:ea typeface="Carelia"/>
                <a:cs typeface="Carelia"/>
                <a:sym typeface="Carelia"/>
              </a:rPr>
              <a:t>CAR INSURANCE BUSINESS PLAN</a:t>
            </a:r>
          </a:p>
        </p:txBody>
      </p:sp>
      <p:sp>
        <p:nvSpPr>
          <p:cNvPr name="TextBox 15" id="15"/>
          <p:cNvSpPr txBox="true"/>
          <p:nvPr/>
        </p:nvSpPr>
        <p:spPr>
          <a:xfrm rot="0">
            <a:off x="1028700" y="5814716"/>
            <a:ext cx="5904516" cy="720771"/>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Poppins"/>
                <a:ea typeface="Poppins"/>
                <a:cs typeface="Poppins"/>
                <a:sym typeface="Poppins"/>
              </a:rPr>
              <a:t>W</a:t>
            </a:r>
            <a:r>
              <a:rPr lang="en-US" sz="2000">
                <a:solidFill>
                  <a:srgbClr val="000000"/>
                </a:solidFill>
                <a:latin typeface="Poppins"/>
                <a:ea typeface="Poppins"/>
                <a:cs typeface="Poppins"/>
                <a:sym typeface="Poppins"/>
              </a:rPr>
              <a:t>e provide transparent car insurance with fast claims and reliable driver protection. </a:t>
            </a:r>
          </a:p>
        </p:txBody>
      </p:sp>
      <p:sp>
        <p:nvSpPr>
          <p:cNvPr name="TextBox 16" id="16"/>
          <p:cNvSpPr txBox="true"/>
          <p:nvPr/>
        </p:nvSpPr>
        <p:spPr>
          <a:xfrm rot="0">
            <a:off x="1455329" y="1531281"/>
            <a:ext cx="1568695" cy="32575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Poppins Bold"/>
                <a:ea typeface="Poppins Bold"/>
                <a:cs typeface="Poppins Bold"/>
                <a:sym typeface="Poppins Bold"/>
              </a:rPr>
              <a:t>D</a:t>
            </a:r>
            <a:r>
              <a:rPr lang="en-US" b="true" sz="1800">
                <a:solidFill>
                  <a:srgbClr val="FFFFFF"/>
                </a:solidFill>
                <a:latin typeface="Poppins Bold"/>
                <a:ea typeface="Poppins Bold"/>
                <a:cs typeface="Poppins Bold"/>
                <a:sym typeface="Poppins Bold"/>
              </a:rPr>
              <a:t>rive Safe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1"/>
          </a:xfrm>
        </p:grpSpPr>
        <p:sp>
          <p:nvSpPr>
            <p:cNvPr name="Freeform 7" id="7"/>
            <p:cNvSpPr/>
            <p:nvPr/>
          </p:nvSpPr>
          <p:spPr>
            <a:xfrm flipH="false" flipV="false" rot="0">
              <a:off x="0" y="0"/>
              <a:ext cx="7433747" cy="782092"/>
            </a:xfrm>
            <a:custGeom>
              <a:avLst/>
              <a:gdLst/>
              <a:ahLst/>
              <a:cxnLst/>
              <a:rect r="r" b="b" t="t" l="l"/>
              <a:pathLst>
                <a:path h="782092" w="7433747">
                  <a:moveTo>
                    <a:pt x="0" y="0"/>
                  </a:moveTo>
                  <a:lnTo>
                    <a:pt x="7433747" y="0"/>
                  </a:lnTo>
                  <a:lnTo>
                    <a:pt x="7433747" y="782092"/>
                  </a:lnTo>
                  <a:lnTo>
                    <a:pt x="0" y="782092"/>
                  </a:lnTo>
                  <a:close/>
                </a:path>
              </a:pathLst>
            </a:custGeom>
            <a:blipFill>
              <a:blip r:embed="rId4">
                <a:alphaModFix amt="0"/>
              </a:blip>
              <a:stretch>
                <a:fillRect l="0" t="-135204" r="0" b="-135204"/>
              </a:stretch>
            </a:blipFill>
          </p:spPr>
        </p:sp>
        <p:sp>
          <p:nvSpPr>
            <p:cNvPr name="TextBox 8" id="8"/>
            <p:cNvSpPr txBox="true"/>
            <p:nvPr/>
          </p:nvSpPr>
          <p:spPr>
            <a:xfrm>
              <a:off x="0" y="-38100"/>
              <a:ext cx="7433742" cy="820191"/>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PROJECT OVERVIEW</a:t>
              </a:r>
            </a:p>
          </p:txBody>
        </p:sp>
      </p:grpSp>
      <p:grpSp>
        <p:nvGrpSpPr>
          <p:cNvPr name="Group 9" id="9"/>
          <p:cNvGrpSpPr/>
          <p:nvPr/>
        </p:nvGrpSpPr>
        <p:grpSpPr>
          <a:xfrm rot="0">
            <a:off x="444294" y="1213923"/>
            <a:ext cx="16725929" cy="1022137"/>
            <a:chOff x="0" y="0"/>
            <a:chExt cx="22301238" cy="1362850"/>
          </a:xfrm>
        </p:grpSpPr>
        <p:sp>
          <p:nvSpPr>
            <p:cNvPr name="Freeform 10" id="10"/>
            <p:cNvSpPr/>
            <p:nvPr/>
          </p:nvSpPr>
          <p:spPr>
            <a:xfrm flipH="false" flipV="false" rot="0">
              <a:off x="0" y="0"/>
              <a:ext cx="22301200" cy="1362837"/>
            </a:xfrm>
            <a:custGeom>
              <a:avLst/>
              <a:gdLst/>
              <a:ahLst/>
              <a:cxnLst/>
              <a:rect r="r" b="b" t="t" l="l"/>
              <a:pathLst>
                <a:path h="1362837" w="22301200">
                  <a:moveTo>
                    <a:pt x="0" y="0"/>
                  </a:moveTo>
                  <a:lnTo>
                    <a:pt x="22301200" y="0"/>
                  </a:lnTo>
                  <a:lnTo>
                    <a:pt x="22301200" y="1362837"/>
                  </a:lnTo>
                  <a:lnTo>
                    <a:pt x="0" y="1362837"/>
                  </a:lnTo>
                  <a:close/>
                </a:path>
              </a:pathLst>
            </a:custGeom>
            <a:blipFill>
              <a:blip r:embed="rId3">
                <a:alphaModFix amt="0"/>
              </a:blip>
              <a:stretch>
                <a:fillRect l="0" t="-268627" r="0" b="-268629"/>
              </a:stretch>
            </a:blipFill>
          </p:spPr>
        </p:sp>
      </p:grpSp>
      <p:grpSp>
        <p:nvGrpSpPr>
          <p:cNvPr name="Group 11" id="11"/>
          <p:cNvGrpSpPr/>
          <p:nvPr/>
        </p:nvGrpSpPr>
        <p:grpSpPr>
          <a:xfrm rot="0">
            <a:off x="444294" y="1126808"/>
            <a:ext cx="16725929" cy="1109253"/>
            <a:chOff x="0" y="0"/>
            <a:chExt cx="22301238" cy="1479004"/>
          </a:xfrm>
        </p:grpSpPr>
        <p:sp>
          <p:nvSpPr>
            <p:cNvPr name="Freeform 12" id="12"/>
            <p:cNvSpPr/>
            <p:nvPr/>
          </p:nvSpPr>
          <p:spPr>
            <a:xfrm flipH="false" flipV="false" rot="0">
              <a:off x="0" y="0"/>
              <a:ext cx="22301239" cy="1479006"/>
            </a:xfrm>
            <a:custGeom>
              <a:avLst/>
              <a:gdLst/>
              <a:ahLst/>
              <a:cxnLst/>
              <a:rect r="r" b="b" t="t" l="l"/>
              <a:pathLst>
                <a:path h="1479006" w="22301239">
                  <a:moveTo>
                    <a:pt x="0" y="0"/>
                  </a:moveTo>
                  <a:lnTo>
                    <a:pt x="22301239" y="0"/>
                  </a:lnTo>
                  <a:lnTo>
                    <a:pt x="22301239" y="1479006"/>
                  </a:lnTo>
                  <a:lnTo>
                    <a:pt x="0" y="1479006"/>
                  </a:lnTo>
                  <a:close/>
                </a:path>
              </a:pathLst>
            </a:custGeom>
            <a:blipFill>
              <a:blip r:embed="rId4">
                <a:alphaModFix amt="0"/>
              </a:blip>
              <a:stretch>
                <a:fillRect l="0" t="-243805" r="0" b="-243805"/>
              </a:stretch>
            </a:blipFill>
          </p:spPr>
        </p:sp>
        <p:sp>
          <p:nvSpPr>
            <p:cNvPr name="TextBox 13" id="13"/>
            <p:cNvSpPr txBox="true"/>
            <p:nvPr/>
          </p:nvSpPr>
          <p:spPr>
            <a:xfrm>
              <a:off x="0" y="-133350"/>
              <a:ext cx="22301238" cy="1612354"/>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About CarPro Insurance</a:t>
              </a:r>
            </a:p>
          </p:txBody>
        </p:sp>
      </p:grpSp>
      <p:sp>
        <p:nvSpPr>
          <p:cNvPr name="Freeform 14" id="14"/>
          <p:cNvSpPr/>
          <p:nvPr/>
        </p:nvSpPr>
        <p:spPr>
          <a:xfrm flipH="false" flipV="false" rot="0">
            <a:off x="431387" y="2557682"/>
            <a:ext cx="8388715" cy="5972746"/>
          </a:xfrm>
          <a:custGeom>
            <a:avLst/>
            <a:gdLst/>
            <a:ahLst/>
            <a:cxnLst/>
            <a:rect r="r" b="b" t="t" l="l"/>
            <a:pathLst>
              <a:path h="5972746" w="8388715">
                <a:moveTo>
                  <a:pt x="0" y="0"/>
                </a:moveTo>
                <a:lnTo>
                  <a:pt x="8388715" y="0"/>
                </a:lnTo>
                <a:lnTo>
                  <a:pt x="8388715" y="5972746"/>
                </a:lnTo>
                <a:lnTo>
                  <a:pt x="0" y="59727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31387" y="2557682"/>
            <a:ext cx="137255" cy="5972746"/>
          </a:xfrm>
          <a:custGeom>
            <a:avLst/>
            <a:gdLst/>
            <a:ahLst/>
            <a:cxnLst/>
            <a:rect r="r" b="b" t="t" l="l"/>
            <a:pathLst>
              <a:path h="5972746" w="137255">
                <a:moveTo>
                  <a:pt x="0" y="0"/>
                </a:moveTo>
                <a:lnTo>
                  <a:pt x="137256" y="0"/>
                </a:lnTo>
                <a:lnTo>
                  <a:pt x="137256" y="5972746"/>
                </a:lnTo>
                <a:lnTo>
                  <a:pt x="0" y="5972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815978" y="2756430"/>
            <a:ext cx="7619590" cy="650453"/>
            <a:chOff x="0" y="0"/>
            <a:chExt cx="10159454" cy="867270"/>
          </a:xfrm>
        </p:grpSpPr>
        <p:sp>
          <p:nvSpPr>
            <p:cNvPr name="Freeform 17" id="17"/>
            <p:cNvSpPr/>
            <p:nvPr/>
          </p:nvSpPr>
          <p:spPr>
            <a:xfrm flipH="false" flipV="false" rot="0">
              <a:off x="0" y="0"/>
              <a:ext cx="10159492" cy="867283"/>
            </a:xfrm>
            <a:custGeom>
              <a:avLst/>
              <a:gdLst/>
              <a:ahLst/>
              <a:cxnLst/>
              <a:rect r="r" b="b" t="t" l="l"/>
              <a:pathLst>
                <a:path h="867283" w="10159492">
                  <a:moveTo>
                    <a:pt x="0" y="0"/>
                  </a:moveTo>
                  <a:lnTo>
                    <a:pt x="10159492" y="0"/>
                  </a:lnTo>
                  <a:lnTo>
                    <a:pt x="10159492" y="867283"/>
                  </a:lnTo>
                  <a:lnTo>
                    <a:pt x="0" y="867283"/>
                  </a:lnTo>
                  <a:close/>
                </a:path>
              </a:pathLst>
            </a:custGeom>
            <a:blipFill>
              <a:blip r:embed="rId3">
                <a:alphaModFix amt="0"/>
              </a:blip>
              <a:stretch>
                <a:fillRect l="0" t="-178091" r="0" b="-178090"/>
              </a:stretch>
            </a:blipFill>
          </p:spPr>
        </p:sp>
      </p:grpSp>
      <p:grpSp>
        <p:nvGrpSpPr>
          <p:cNvPr name="Group 18" id="18"/>
          <p:cNvGrpSpPr/>
          <p:nvPr/>
        </p:nvGrpSpPr>
        <p:grpSpPr>
          <a:xfrm rot="0">
            <a:off x="815978" y="2720130"/>
            <a:ext cx="7619590" cy="686752"/>
            <a:chOff x="0" y="0"/>
            <a:chExt cx="10159454" cy="915670"/>
          </a:xfrm>
        </p:grpSpPr>
        <p:sp>
          <p:nvSpPr>
            <p:cNvPr name="Freeform 19" id="19"/>
            <p:cNvSpPr/>
            <p:nvPr/>
          </p:nvSpPr>
          <p:spPr>
            <a:xfrm flipH="false" flipV="false" rot="0">
              <a:off x="0" y="0"/>
              <a:ext cx="10159454" cy="915667"/>
            </a:xfrm>
            <a:custGeom>
              <a:avLst/>
              <a:gdLst/>
              <a:ahLst/>
              <a:cxnLst/>
              <a:rect r="r" b="b" t="t" l="l"/>
              <a:pathLst>
                <a:path h="915667" w="10159454">
                  <a:moveTo>
                    <a:pt x="0" y="0"/>
                  </a:moveTo>
                  <a:lnTo>
                    <a:pt x="10159454" y="0"/>
                  </a:lnTo>
                  <a:lnTo>
                    <a:pt x="10159454" y="915667"/>
                  </a:lnTo>
                  <a:lnTo>
                    <a:pt x="0" y="915667"/>
                  </a:lnTo>
                  <a:close/>
                </a:path>
              </a:pathLst>
            </a:custGeom>
            <a:blipFill>
              <a:blip r:embed="rId4">
                <a:alphaModFix amt="0"/>
              </a:blip>
              <a:stretch>
                <a:fillRect l="0" t="-166188" r="0" b="-166189"/>
              </a:stretch>
            </a:blipFill>
          </p:spPr>
        </p:sp>
        <p:sp>
          <p:nvSpPr>
            <p:cNvPr name="TextBox 20" id="20"/>
            <p:cNvSpPr txBox="true"/>
            <p:nvPr/>
          </p:nvSpPr>
          <p:spPr>
            <a:xfrm>
              <a:off x="0" y="-66675"/>
              <a:ext cx="10159454" cy="982345"/>
            </a:xfrm>
            <a:prstGeom prst="rect">
              <a:avLst/>
            </a:prstGeom>
          </p:spPr>
          <p:txBody>
            <a:bodyPr anchor="ctr" rtlCol="false" tIns="0" lIns="0" bIns="0" rIns="0"/>
            <a:lstStyle/>
            <a:p>
              <a:pPr algn="l">
                <a:lnSpc>
                  <a:spcPts val="3358"/>
                </a:lnSpc>
              </a:pPr>
              <a:r>
                <a:rPr lang="en-US" sz="2799" b="true">
                  <a:solidFill>
                    <a:srgbClr val="7B2FBE"/>
                  </a:solidFill>
                  <a:latin typeface="Calibri (MS) Bold"/>
                  <a:ea typeface="Calibri (MS) Bold"/>
                  <a:cs typeface="Calibri (MS) Bold"/>
                  <a:sym typeface="Calibri (MS) Bold"/>
                </a:rPr>
                <a:t>Business Context</a:t>
              </a:r>
            </a:p>
          </p:txBody>
        </p:sp>
      </p:grpSp>
      <p:sp>
        <p:nvSpPr>
          <p:cNvPr name="TextBox 21" id="21"/>
          <p:cNvSpPr txBox="true"/>
          <p:nvPr/>
        </p:nvSpPr>
        <p:spPr>
          <a:xfrm rot="0">
            <a:off x="919229" y="3507800"/>
            <a:ext cx="7413098" cy="4627778"/>
          </a:xfrm>
          <a:prstGeom prst="rect">
            <a:avLst/>
          </a:prstGeom>
        </p:spPr>
        <p:txBody>
          <a:bodyPr anchor="t" rtlCol="false" tIns="0" lIns="0" bIns="0" rIns="0">
            <a:spAutoFit/>
          </a:bodyPr>
          <a:lstStyle/>
          <a:p>
            <a:pPr algn="l">
              <a:lnSpc>
                <a:spcPts val="2925"/>
              </a:lnSpc>
            </a:pPr>
            <a:r>
              <a:rPr lang="en-US" sz="2437" b="true">
                <a:solidFill>
                  <a:srgbClr val="1A1030"/>
                </a:solidFill>
                <a:latin typeface="Calibri (MS) Bold"/>
                <a:ea typeface="Calibri (MS) Bold"/>
                <a:cs typeface="Calibri (MS) Bold"/>
                <a:sym typeface="Calibri (MS) Bold"/>
              </a:rPr>
              <a:t>CarPro Insurance Distribution</a:t>
            </a:r>
            <a:r>
              <a:rPr lang="en-US" sz="2437">
                <a:solidFill>
                  <a:srgbClr val="444444"/>
                </a:solidFill>
                <a:latin typeface="Calibri (MS)"/>
                <a:ea typeface="Calibri (MS)"/>
                <a:cs typeface="Calibri (MS)"/>
                <a:sym typeface="Calibri (MS)"/>
              </a:rPr>
              <a:t> is an insurance aggregation business partnering with multiple providers in Vietnam. Agents collect customer and vehicle needs, coordinate with providers to generate quotations, then guide customers from acceptance through policy issuance and payment activation:</a:t>
            </a:r>
          </a:p>
          <a:p>
            <a:pPr algn="l">
              <a:lnSpc>
                <a:spcPts val="2925"/>
              </a:lnSpc>
            </a:pPr>
          </a:p>
          <a:p>
            <a:pPr algn="l">
              <a:lnSpc>
                <a:spcPts val="2925"/>
              </a:lnSpc>
            </a:pPr>
            <a:r>
              <a:rPr lang="en-US" sz="2437" b="true">
                <a:solidFill>
                  <a:srgbClr val="7B2FBE"/>
                </a:solidFill>
                <a:latin typeface="Calibri (MS) Bold"/>
                <a:ea typeface="Calibri (MS) Bold"/>
                <a:cs typeface="Calibri (MS) Bold"/>
                <a:sym typeface="Calibri (MS) Bold"/>
              </a:rPr>
              <a:t>Bao Viet  ·  PVI  ·  MIC  ·  PTI  ·  Liberty Insurance</a:t>
            </a:r>
          </a:p>
          <a:p>
            <a:pPr algn="l">
              <a:lnSpc>
                <a:spcPts val="2925"/>
              </a:lnSpc>
            </a:pPr>
          </a:p>
          <a:p>
            <a:pPr algn="l">
              <a:lnSpc>
                <a:spcPts val="2925"/>
              </a:lnSpc>
            </a:pPr>
          </a:p>
        </p:txBody>
      </p:sp>
      <p:sp>
        <p:nvSpPr>
          <p:cNvPr name="Freeform 22" id="22"/>
          <p:cNvSpPr/>
          <p:nvPr/>
        </p:nvSpPr>
        <p:spPr>
          <a:xfrm flipH="false" flipV="false" rot="0">
            <a:off x="9351883" y="2557682"/>
            <a:ext cx="8202873" cy="2813399"/>
          </a:xfrm>
          <a:custGeom>
            <a:avLst/>
            <a:gdLst/>
            <a:ahLst/>
            <a:cxnLst/>
            <a:rect r="r" b="b" t="t" l="l"/>
            <a:pathLst>
              <a:path h="2813399" w="8202873">
                <a:moveTo>
                  <a:pt x="0" y="0"/>
                </a:moveTo>
                <a:lnTo>
                  <a:pt x="8202873" y="0"/>
                </a:lnTo>
                <a:lnTo>
                  <a:pt x="8202873" y="2813399"/>
                </a:lnTo>
                <a:lnTo>
                  <a:pt x="0" y="28133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3" id="23"/>
          <p:cNvGrpSpPr/>
          <p:nvPr/>
        </p:nvGrpSpPr>
        <p:grpSpPr>
          <a:xfrm rot="0">
            <a:off x="9643558" y="2756430"/>
            <a:ext cx="7619590" cy="557527"/>
            <a:chOff x="0" y="0"/>
            <a:chExt cx="10159454" cy="743369"/>
          </a:xfrm>
        </p:grpSpPr>
        <p:sp>
          <p:nvSpPr>
            <p:cNvPr name="Freeform 24" id="24"/>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25" id="25"/>
          <p:cNvGrpSpPr/>
          <p:nvPr/>
        </p:nvGrpSpPr>
        <p:grpSpPr>
          <a:xfrm rot="0">
            <a:off x="9643558" y="2727388"/>
            <a:ext cx="7619590" cy="586569"/>
            <a:chOff x="0" y="0"/>
            <a:chExt cx="10159454" cy="782091"/>
          </a:xfrm>
        </p:grpSpPr>
        <p:sp>
          <p:nvSpPr>
            <p:cNvPr name="Freeform 26" id="26"/>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27" id="27"/>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E0305A"/>
                  </a:solidFill>
                  <a:latin typeface="Calibri (MS) Bold"/>
                  <a:ea typeface="Calibri (MS) Bold"/>
                  <a:cs typeface="Calibri (MS) Bold"/>
                  <a:sym typeface="Calibri (MS) Bold"/>
                </a:rPr>
                <a:t>⚠  Current Challenges</a:t>
              </a:r>
            </a:p>
          </p:txBody>
        </p:sp>
      </p:grpSp>
      <p:grpSp>
        <p:nvGrpSpPr>
          <p:cNvPr name="Group 28" id="28"/>
          <p:cNvGrpSpPr/>
          <p:nvPr/>
        </p:nvGrpSpPr>
        <p:grpSpPr>
          <a:xfrm rot="0">
            <a:off x="9643558" y="3313957"/>
            <a:ext cx="7433748" cy="1858432"/>
            <a:chOff x="0" y="0"/>
            <a:chExt cx="9911664" cy="2477910"/>
          </a:xfrm>
        </p:grpSpPr>
        <p:sp>
          <p:nvSpPr>
            <p:cNvPr name="Freeform 29" id="29"/>
            <p:cNvSpPr/>
            <p:nvPr/>
          </p:nvSpPr>
          <p:spPr>
            <a:xfrm flipH="false" flipV="false" rot="0">
              <a:off x="0" y="0"/>
              <a:ext cx="9911715" cy="2477897"/>
            </a:xfrm>
            <a:custGeom>
              <a:avLst/>
              <a:gdLst/>
              <a:ahLst/>
              <a:cxnLst/>
              <a:rect r="r" b="b" t="t" l="l"/>
              <a:pathLst>
                <a:path h="2477897" w="9911715">
                  <a:moveTo>
                    <a:pt x="0" y="0"/>
                  </a:moveTo>
                  <a:lnTo>
                    <a:pt x="9911715" y="0"/>
                  </a:lnTo>
                  <a:lnTo>
                    <a:pt x="9911715" y="2477897"/>
                  </a:lnTo>
                  <a:lnTo>
                    <a:pt x="0" y="2477897"/>
                  </a:lnTo>
                  <a:close/>
                </a:path>
              </a:pathLst>
            </a:custGeom>
            <a:blipFill>
              <a:blip r:embed="rId3">
                <a:alphaModFix amt="0"/>
              </a:blip>
              <a:stretch>
                <a:fillRect l="0" t="-27886" r="0" b="-27886"/>
              </a:stretch>
            </a:blipFill>
          </p:spPr>
        </p:sp>
      </p:grpSp>
      <p:grpSp>
        <p:nvGrpSpPr>
          <p:cNvPr name="Group 30" id="30"/>
          <p:cNvGrpSpPr/>
          <p:nvPr/>
        </p:nvGrpSpPr>
        <p:grpSpPr>
          <a:xfrm rot="0">
            <a:off x="9643558" y="3277657"/>
            <a:ext cx="7433748" cy="1894732"/>
            <a:chOff x="0" y="0"/>
            <a:chExt cx="9911664" cy="2526309"/>
          </a:xfrm>
        </p:grpSpPr>
        <p:sp>
          <p:nvSpPr>
            <p:cNvPr name="Freeform 31" id="31"/>
            <p:cNvSpPr/>
            <p:nvPr/>
          </p:nvSpPr>
          <p:spPr>
            <a:xfrm flipH="false" flipV="false" rot="0">
              <a:off x="0" y="0"/>
              <a:ext cx="9911662" cy="2526313"/>
            </a:xfrm>
            <a:custGeom>
              <a:avLst/>
              <a:gdLst/>
              <a:ahLst/>
              <a:cxnLst/>
              <a:rect r="r" b="b" t="t" l="l"/>
              <a:pathLst>
                <a:path h="2526313" w="9911662">
                  <a:moveTo>
                    <a:pt x="0" y="0"/>
                  </a:moveTo>
                  <a:lnTo>
                    <a:pt x="9911662" y="0"/>
                  </a:lnTo>
                  <a:lnTo>
                    <a:pt x="9911662" y="2526313"/>
                  </a:lnTo>
                  <a:lnTo>
                    <a:pt x="0" y="2526313"/>
                  </a:lnTo>
                  <a:close/>
                </a:path>
              </a:pathLst>
            </a:custGeom>
            <a:blipFill>
              <a:blip r:embed="rId4">
                <a:alphaModFix amt="0"/>
              </a:blip>
              <a:stretch>
                <a:fillRect l="0" t="-26447" r="0" b="-26446"/>
              </a:stretch>
            </a:blipFill>
          </p:spPr>
        </p:sp>
        <p:sp>
          <p:nvSpPr>
            <p:cNvPr name="TextBox 32" id="32"/>
            <p:cNvSpPr txBox="true"/>
            <p:nvPr/>
          </p:nvSpPr>
          <p:spPr>
            <a:xfrm>
              <a:off x="0" y="-47625"/>
              <a:ext cx="9911664" cy="2573934"/>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Data distributed across multiple systems · Manual spreadsheet consolidation · Inconsistent KPIs · No unified view of quotation-to-policy conversion · Limited operational visibility</a:t>
              </a:r>
            </a:p>
          </p:txBody>
        </p:sp>
      </p:grpSp>
      <p:sp>
        <p:nvSpPr>
          <p:cNvPr name="Freeform 33" id="33"/>
          <p:cNvSpPr/>
          <p:nvPr/>
        </p:nvSpPr>
        <p:spPr>
          <a:xfrm flipH="false" flipV="false" rot="0">
            <a:off x="9351883" y="5624103"/>
            <a:ext cx="8202873" cy="2906325"/>
          </a:xfrm>
          <a:custGeom>
            <a:avLst/>
            <a:gdLst/>
            <a:ahLst/>
            <a:cxnLst/>
            <a:rect r="r" b="b" t="t" l="l"/>
            <a:pathLst>
              <a:path h="2906325" w="8202873">
                <a:moveTo>
                  <a:pt x="0" y="0"/>
                </a:moveTo>
                <a:lnTo>
                  <a:pt x="8202873" y="0"/>
                </a:lnTo>
                <a:lnTo>
                  <a:pt x="8202873" y="2906325"/>
                </a:lnTo>
                <a:lnTo>
                  <a:pt x="0" y="29063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9643558" y="5822852"/>
            <a:ext cx="7619590" cy="557527"/>
            <a:chOff x="0" y="0"/>
            <a:chExt cx="10159454" cy="743369"/>
          </a:xfrm>
        </p:grpSpPr>
        <p:sp>
          <p:nvSpPr>
            <p:cNvPr name="Freeform 35" id="35"/>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36" id="36"/>
          <p:cNvGrpSpPr/>
          <p:nvPr/>
        </p:nvGrpSpPr>
        <p:grpSpPr>
          <a:xfrm rot="0">
            <a:off x="9643558" y="5793810"/>
            <a:ext cx="7619590" cy="586569"/>
            <a:chOff x="0" y="0"/>
            <a:chExt cx="10159454" cy="782091"/>
          </a:xfrm>
        </p:grpSpPr>
        <p:sp>
          <p:nvSpPr>
            <p:cNvPr name="Freeform 37" id="37"/>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38" id="38"/>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7B2FBE"/>
                  </a:solidFill>
                  <a:latin typeface="Calibri (MS) Bold"/>
                  <a:ea typeface="Calibri (MS) Bold"/>
                  <a:cs typeface="Calibri (MS) Bold"/>
                  <a:sym typeface="Calibri (MS) Bold"/>
                </a:rPr>
                <a:t>✦  Proposed Solution</a:t>
              </a:r>
            </a:p>
          </p:txBody>
        </p:sp>
      </p:grpSp>
      <p:grpSp>
        <p:nvGrpSpPr>
          <p:cNvPr name="Group 39" id="39"/>
          <p:cNvGrpSpPr/>
          <p:nvPr/>
        </p:nvGrpSpPr>
        <p:grpSpPr>
          <a:xfrm rot="0">
            <a:off x="9643558" y="6417545"/>
            <a:ext cx="7433748" cy="1951358"/>
            <a:chOff x="0" y="0"/>
            <a:chExt cx="9911664" cy="2601811"/>
          </a:xfrm>
        </p:grpSpPr>
        <p:sp>
          <p:nvSpPr>
            <p:cNvPr name="Freeform 40" id="40"/>
            <p:cNvSpPr/>
            <p:nvPr/>
          </p:nvSpPr>
          <p:spPr>
            <a:xfrm flipH="false" flipV="false" rot="0">
              <a:off x="0" y="0"/>
              <a:ext cx="9911715" cy="2601849"/>
            </a:xfrm>
            <a:custGeom>
              <a:avLst/>
              <a:gdLst/>
              <a:ahLst/>
              <a:cxnLst/>
              <a:rect r="r" b="b" t="t" l="l"/>
              <a:pathLst>
                <a:path h="2601849" w="9911715">
                  <a:moveTo>
                    <a:pt x="0" y="0"/>
                  </a:moveTo>
                  <a:lnTo>
                    <a:pt x="9911715" y="0"/>
                  </a:lnTo>
                  <a:lnTo>
                    <a:pt x="9911715" y="2601849"/>
                  </a:lnTo>
                  <a:lnTo>
                    <a:pt x="0" y="2601849"/>
                  </a:lnTo>
                  <a:close/>
                </a:path>
              </a:pathLst>
            </a:custGeom>
            <a:blipFill>
              <a:blip r:embed="rId3">
                <a:alphaModFix amt="0"/>
              </a:blip>
              <a:stretch>
                <a:fillRect l="0" t="-24176" r="0" b="-24175"/>
              </a:stretch>
            </a:blipFill>
          </p:spPr>
        </p:sp>
      </p:grpSp>
      <p:grpSp>
        <p:nvGrpSpPr>
          <p:cNvPr name="Group 41" id="41"/>
          <p:cNvGrpSpPr/>
          <p:nvPr/>
        </p:nvGrpSpPr>
        <p:grpSpPr>
          <a:xfrm rot="0">
            <a:off x="9643558" y="6381245"/>
            <a:ext cx="7433748" cy="1987658"/>
            <a:chOff x="0" y="0"/>
            <a:chExt cx="9911664" cy="2650211"/>
          </a:xfrm>
        </p:grpSpPr>
        <p:sp>
          <p:nvSpPr>
            <p:cNvPr name="Freeform 42" id="42"/>
            <p:cNvSpPr/>
            <p:nvPr/>
          </p:nvSpPr>
          <p:spPr>
            <a:xfrm flipH="false" flipV="false" rot="0">
              <a:off x="0" y="0"/>
              <a:ext cx="9911662" cy="2650207"/>
            </a:xfrm>
            <a:custGeom>
              <a:avLst/>
              <a:gdLst/>
              <a:ahLst/>
              <a:cxnLst/>
              <a:rect r="r" b="b" t="t" l="l"/>
              <a:pathLst>
                <a:path h="2650207" w="9911662">
                  <a:moveTo>
                    <a:pt x="0" y="0"/>
                  </a:moveTo>
                  <a:lnTo>
                    <a:pt x="9911662" y="0"/>
                  </a:lnTo>
                  <a:lnTo>
                    <a:pt x="9911662" y="2650207"/>
                  </a:lnTo>
                  <a:lnTo>
                    <a:pt x="0" y="2650207"/>
                  </a:lnTo>
                  <a:close/>
                </a:path>
              </a:pathLst>
            </a:custGeom>
            <a:blipFill>
              <a:blip r:embed="rId4">
                <a:alphaModFix amt="0"/>
              </a:blip>
              <a:stretch>
                <a:fillRect l="0" t="-22873" r="0" b="-22873"/>
              </a:stretch>
            </a:blipFill>
          </p:spPr>
        </p:sp>
        <p:sp>
          <p:nvSpPr>
            <p:cNvPr name="TextBox 43" id="43"/>
            <p:cNvSpPr txBox="true"/>
            <p:nvPr/>
          </p:nvSpPr>
          <p:spPr>
            <a:xfrm>
              <a:off x="0" y="-47625"/>
              <a:ext cx="9911664" cy="2697836"/>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Centralized analytics platform built on the business process flow · Quotation-to-policy conversion tracking · Provider performance reporting · Payment and cancellation analytics · Executive dashboards &amp; self-service BI</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2"/>
          </a:xfrm>
        </p:grpSpPr>
        <p:sp>
          <p:nvSpPr>
            <p:cNvPr name="Freeform 7" id="7"/>
            <p:cNvSpPr/>
            <p:nvPr/>
          </p:nvSpPr>
          <p:spPr>
            <a:xfrm flipH="false" flipV="false" rot="0">
              <a:off x="0" y="0"/>
              <a:ext cx="7433747" cy="782093"/>
            </a:xfrm>
            <a:custGeom>
              <a:avLst/>
              <a:gdLst/>
              <a:ahLst/>
              <a:cxnLst/>
              <a:rect r="r" b="b" t="t" l="l"/>
              <a:pathLst>
                <a:path h="782093" w="7433747">
                  <a:moveTo>
                    <a:pt x="0" y="0"/>
                  </a:moveTo>
                  <a:lnTo>
                    <a:pt x="7433747" y="0"/>
                  </a:lnTo>
                  <a:lnTo>
                    <a:pt x="7433747" y="782093"/>
                  </a:lnTo>
                  <a:lnTo>
                    <a:pt x="0" y="782093"/>
                  </a:lnTo>
                  <a:close/>
                </a:path>
              </a:pathLst>
            </a:custGeom>
            <a:blipFill>
              <a:blip r:embed="rId4">
                <a:alphaModFix amt="0"/>
              </a:blip>
              <a:stretch>
                <a:fillRect l="0" t="-135204" r="0" b="-135203"/>
              </a:stretch>
            </a:blipFill>
          </p:spPr>
        </p:sp>
        <p:sp>
          <p:nvSpPr>
            <p:cNvPr name="TextBox 8" id="8"/>
            <p:cNvSpPr txBox="true"/>
            <p:nvPr/>
          </p:nvSpPr>
          <p:spPr>
            <a:xfrm>
              <a:off x="0" y="-38100"/>
              <a:ext cx="7433742" cy="82019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BUSINESS PARTICIPANTS</a:t>
              </a:r>
            </a:p>
          </p:txBody>
        </p:sp>
      </p:grpSp>
      <p:grpSp>
        <p:nvGrpSpPr>
          <p:cNvPr name="Group 9" id="9"/>
          <p:cNvGrpSpPr/>
          <p:nvPr/>
        </p:nvGrpSpPr>
        <p:grpSpPr>
          <a:xfrm rot="0">
            <a:off x="444294" y="1213923"/>
            <a:ext cx="16725929" cy="1123798"/>
            <a:chOff x="0" y="0"/>
            <a:chExt cx="22301238" cy="1498397"/>
          </a:xfrm>
        </p:grpSpPr>
        <p:sp>
          <p:nvSpPr>
            <p:cNvPr name="Freeform 10" id="10"/>
            <p:cNvSpPr/>
            <p:nvPr/>
          </p:nvSpPr>
          <p:spPr>
            <a:xfrm flipH="false" flipV="false" rot="0">
              <a:off x="0" y="0"/>
              <a:ext cx="22301200" cy="1498346"/>
            </a:xfrm>
            <a:custGeom>
              <a:avLst/>
              <a:gdLst/>
              <a:ahLst/>
              <a:cxnLst/>
              <a:rect r="r" b="b" t="t" l="l"/>
              <a:pathLst>
                <a:path h="1498346" w="22301200">
                  <a:moveTo>
                    <a:pt x="0" y="0"/>
                  </a:moveTo>
                  <a:lnTo>
                    <a:pt x="22301200" y="0"/>
                  </a:lnTo>
                  <a:lnTo>
                    <a:pt x="22301200" y="1498346"/>
                  </a:lnTo>
                  <a:lnTo>
                    <a:pt x="0" y="1498346"/>
                  </a:lnTo>
                  <a:close/>
                </a:path>
              </a:pathLst>
            </a:custGeom>
            <a:blipFill>
              <a:blip r:embed="rId3">
                <a:alphaModFix amt="0"/>
              </a:blip>
              <a:stretch>
                <a:fillRect l="0" t="-239810" r="0" b="-239813"/>
              </a:stretch>
            </a:blipFill>
          </p:spPr>
        </p:sp>
      </p:grpSp>
      <p:grpSp>
        <p:nvGrpSpPr>
          <p:cNvPr name="Group 11" id="11"/>
          <p:cNvGrpSpPr/>
          <p:nvPr/>
        </p:nvGrpSpPr>
        <p:grpSpPr>
          <a:xfrm rot="0">
            <a:off x="444294" y="1126808"/>
            <a:ext cx="16725929" cy="1210913"/>
            <a:chOff x="0" y="0"/>
            <a:chExt cx="22301238" cy="1614551"/>
          </a:xfrm>
        </p:grpSpPr>
        <p:sp>
          <p:nvSpPr>
            <p:cNvPr name="Freeform 12" id="12"/>
            <p:cNvSpPr/>
            <p:nvPr/>
          </p:nvSpPr>
          <p:spPr>
            <a:xfrm flipH="false" flipV="false" rot="0">
              <a:off x="0" y="0"/>
              <a:ext cx="22301239" cy="1614554"/>
            </a:xfrm>
            <a:custGeom>
              <a:avLst/>
              <a:gdLst/>
              <a:ahLst/>
              <a:cxnLst/>
              <a:rect r="r" b="b" t="t" l="l"/>
              <a:pathLst>
                <a:path h="1614554" w="22301239">
                  <a:moveTo>
                    <a:pt x="0" y="0"/>
                  </a:moveTo>
                  <a:lnTo>
                    <a:pt x="22301239" y="0"/>
                  </a:lnTo>
                  <a:lnTo>
                    <a:pt x="22301239" y="1614554"/>
                  </a:lnTo>
                  <a:lnTo>
                    <a:pt x="0" y="1614554"/>
                  </a:lnTo>
                  <a:close/>
                </a:path>
              </a:pathLst>
            </a:custGeom>
            <a:blipFill>
              <a:blip r:embed="rId4">
                <a:alphaModFix amt="0"/>
              </a:blip>
              <a:stretch>
                <a:fillRect l="0" t="-219139" r="0" b="-219139"/>
              </a:stretch>
            </a:blipFill>
          </p:spPr>
        </p:sp>
        <p:sp>
          <p:nvSpPr>
            <p:cNvPr name="TextBox 13" id="13"/>
            <p:cNvSpPr txBox="true"/>
            <p:nvPr/>
          </p:nvSpPr>
          <p:spPr>
            <a:xfrm>
              <a:off x="0" y="-133350"/>
              <a:ext cx="22301238" cy="1747901"/>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Roles &amp; Responsibilities</a:t>
              </a:r>
            </a:p>
          </p:txBody>
        </p:sp>
      </p:grpSp>
      <p:sp>
        <p:nvSpPr>
          <p:cNvPr name="Freeform 14" id="14"/>
          <p:cNvSpPr/>
          <p:nvPr/>
        </p:nvSpPr>
        <p:spPr>
          <a:xfrm flipH="false" flipV="false" rot="0">
            <a:off x="398002"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799038"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9200226"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3601414"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724663"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9" id="19"/>
          <p:cNvGrpSpPr/>
          <p:nvPr/>
        </p:nvGrpSpPr>
        <p:grpSpPr>
          <a:xfrm rot="0">
            <a:off x="1883664" y="2779776"/>
            <a:ext cx="1353312" cy="1353312"/>
            <a:chOff x="0" y="0"/>
            <a:chExt cx="1804416" cy="1804416"/>
          </a:xfrm>
        </p:grpSpPr>
        <p:sp>
          <p:nvSpPr>
            <p:cNvPr name="Freeform 20" id="2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15"/>
              <a:stretch>
                <a:fillRect l="0" t="0" r="0" b="0"/>
              </a:stretch>
            </a:blipFill>
          </p:spPr>
        </p:sp>
      </p:grpSp>
      <p:grpSp>
        <p:nvGrpSpPr>
          <p:cNvPr name="Group 21" id="21"/>
          <p:cNvGrpSpPr/>
          <p:nvPr/>
        </p:nvGrpSpPr>
        <p:grpSpPr>
          <a:xfrm rot="0">
            <a:off x="548640" y="4608576"/>
            <a:ext cx="4023360" cy="731520"/>
            <a:chOff x="0" y="0"/>
            <a:chExt cx="5364480" cy="975360"/>
          </a:xfrm>
        </p:grpSpPr>
        <p:sp>
          <p:nvSpPr>
            <p:cNvPr name="Freeform 22" id="2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23" id="23"/>
          <p:cNvGrpSpPr/>
          <p:nvPr/>
        </p:nvGrpSpPr>
        <p:grpSpPr>
          <a:xfrm rot="0">
            <a:off x="548640" y="4565714"/>
            <a:ext cx="4023360" cy="774382"/>
            <a:chOff x="0" y="0"/>
            <a:chExt cx="5364480" cy="1032510"/>
          </a:xfrm>
        </p:grpSpPr>
        <p:sp>
          <p:nvSpPr>
            <p:cNvPr name="Freeform 24" id="2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25" id="2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Customer</a:t>
              </a:r>
            </a:p>
          </p:txBody>
        </p:sp>
      </p:grpSp>
      <p:sp>
        <p:nvSpPr>
          <p:cNvPr name="Freeform 26" id="26"/>
          <p:cNvSpPr/>
          <p:nvPr/>
        </p:nvSpPr>
        <p:spPr>
          <a:xfrm flipH="false" flipV="false" rot="0">
            <a:off x="1816103"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7" id="27"/>
          <p:cNvSpPr txBox="true"/>
          <p:nvPr/>
        </p:nvSpPr>
        <p:spPr>
          <a:xfrm rot="0">
            <a:off x="472869" y="5583555"/>
            <a:ext cx="3897544" cy="2476500"/>
          </a:xfrm>
          <a:prstGeom prst="rect">
            <a:avLst/>
          </a:prstGeom>
        </p:spPr>
        <p:txBody>
          <a:bodyPr anchor="t" rtlCol="false" tIns="0" lIns="0" bIns="0" rIns="0">
            <a:spAutoFit/>
          </a:bodyPr>
          <a:lstStyle/>
          <a:p>
            <a:pPr algn="l">
              <a:lnSpc>
                <a:spcPts val="2400"/>
              </a:lnSpc>
            </a:pP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Request vehicle insurance quotation</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Review quotation options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Accept or decline a quotation</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Make payment</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Request policy cancellation</a:t>
            </a:r>
          </a:p>
          <a:p>
            <a:pPr algn="l">
              <a:lnSpc>
                <a:spcPts val="2400"/>
              </a:lnSpc>
            </a:pPr>
          </a:p>
        </p:txBody>
      </p:sp>
      <p:sp>
        <p:nvSpPr>
          <p:cNvPr name="Freeform 28" id="28"/>
          <p:cNvSpPr/>
          <p:nvPr/>
        </p:nvSpPr>
        <p:spPr>
          <a:xfrm flipH="false" flipV="false" rot="0">
            <a:off x="6077207"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9" id="29"/>
          <p:cNvGrpSpPr/>
          <p:nvPr/>
        </p:nvGrpSpPr>
        <p:grpSpPr>
          <a:xfrm rot="0">
            <a:off x="6236208" y="2779776"/>
            <a:ext cx="1353312" cy="1353312"/>
            <a:chOff x="0" y="0"/>
            <a:chExt cx="1804416" cy="1804416"/>
          </a:xfrm>
        </p:grpSpPr>
        <p:sp>
          <p:nvSpPr>
            <p:cNvPr name="Freeform 30" id="3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0"/>
              <a:stretch>
                <a:fillRect l="0" t="0" r="0" b="0"/>
              </a:stretch>
            </a:blipFill>
          </p:spPr>
        </p:sp>
      </p:grpSp>
      <p:grpSp>
        <p:nvGrpSpPr>
          <p:cNvPr name="Group 31" id="31"/>
          <p:cNvGrpSpPr/>
          <p:nvPr/>
        </p:nvGrpSpPr>
        <p:grpSpPr>
          <a:xfrm rot="0">
            <a:off x="4901184" y="4608576"/>
            <a:ext cx="4023360" cy="731520"/>
            <a:chOff x="0" y="0"/>
            <a:chExt cx="5364480" cy="975360"/>
          </a:xfrm>
        </p:grpSpPr>
        <p:sp>
          <p:nvSpPr>
            <p:cNvPr name="Freeform 32" id="3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33" id="33"/>
          <p:cNvGrpSpPr/>
          <p:nvPr/>
        </p:nvGrpSpPr>
        <p:grpSpPr>
          <a:xfrm rot="0">
            <a:off x="4901184" y="4565714"/>
            <a:ext cx="4023360" cy="774382"/>
            <a:chOff x="0" y="0"/>
            <a:chExt cx="5364480" cy="1032510"/>
          </a:xfrm>
        </p:grpSpPr>
        <p:sp>
          <p:nvSpPr>
            <p:cNvPr name="Freeform 34" id="3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35" id="3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Agent</a:t>
              </a:r>
            </a:p>
          </p:txBody>
        </p:sp>
      </p:grpSp>
      <p:sp>
        <p:nvSpPr>
          <p:cNvPr name="Freeform 36" id="36"/>
          <p:cNvSpPr/>
          <p:nvPr/>
        </p:nvSpPr>
        <p:spPr>
          <a:xfrm flipH="false" flipV="false" rot="0">
            <a:off x="6168647"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7" id="37"/>
          <p:cNvSpPr txBox="true"/>
          <p:nvPr/>
        </p:nvSpPr>
        <p:spPr>
          <a:xfrm rot="0">
            <a:off x="4856188" y="5832415"/>
            <a:ext cx="3972563" cy="18669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Collect customer &amp; vehicle information</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Present quotation options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Confirm selected quotation</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Support policy communication</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Receive cancellation requests</a:t>
            </a:r>
          </a:p>
        </p:txBody>
      </p:sp>
      <p:sp>
        <p:nvSpPr>
          <p:cNvPr name="Freeform 38" id="38"/>
          <p:cNvSpPr/>
          <p:nvPr/>
        </p:nvSpPr>
        <p:spPr>
          <a:xfrm flipH="false" flipV="false" rot="0">
            <a:off x="10429751"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9" id="39"/>
          <p:cNvGrpSpPr/>
          <p:nvPr/>
        </p:nvGrpSpPr>
        <p:grpSpPr>
          <a:xfrm rot="0">
            <a:off x="10588752" y="2779776"/>
            <a:ext cx="1353312" cy="1353312"/>
            <a:chOff x="0" y="0"/>
            <a:chExt cx="1804416" cy="1804416"/>
          </a:xfrm>
        </p:grpSpPr>
        <p:sp>
          <p:nvSpPr>
            <p:cNvPr name="Freeform 40" id="4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5"/>
              <a:stretch>
                <a:fillRect l="0" t="0" r="0" b="0"/>
              </a:stretch>
            </a:blipFill>
          </p:spPr>
        </p:sp>
      </p:grpSp>
      <p:grpSp>
        <p:nvGrpSpPr>
          <p:cNvPr name="Group 41" id="41"/>
          <p:cNvGrpSpPr/>
          <p:nvPr/>
        </p:nvGrpSpPr>
        <p:grpSpPr>
          <a:xfrm rot="0">
            <a:off x="9253728" y="4608576"/>
            <a:ext cx="4023360" cy="731520"/>
            <a:chOff x="0" y="0"/>
            <a:chExt cx="5364480" cy="975360"/>
          </a:xfrm>
        </p:grpSpPr>
        <p:sp>
          <p:nvSpPr>
            <p:cNvPr name="Freeform 42" id="4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43" id="43"/>
          <p:cNvGrpSpPr/>
          <p:nvPr/>
        </p:nvGrpSpPr>
        <p:grpSpPr>
          <a:xfrm rot="0">
            <a:off x="9253728" y="4565714"/>
            <a:ext cx="4023360" cy="774382"/>
            <a:chOff x="0" y="0"/>
            <a:chExt cx="5364480" cy="1032510"/>
          </a:xfrm>
        </p:grpSpPr>
        <p:sp>
          <p:nvSpPr>
            <p:cNvPr name="Freeform 44" id="4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45" id="4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System</a:t>
              </a:r>
            </a:p>
          </p:txBody>
        </p:sp>
      </p:grpSp>
      <p:sp>
        <p:nvSpPr>
          <p:cNvPr name="Freeform 46" id="46"/>
          <p:cNvSpPr/>
          <p:nvPr/>
        </p:nvSpPr>
        <p:spPr>
          <a:xfrm flipH="false" flipV="false" rot="0">
            <a:off x="10521191"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47" id="47"/>
          <p:cNvSpPr txBox="true"/>
          <p:nvPr/>
        </p:nvSpPr>
        <p:spPr>
          <a:xfrm rot="0">
            <a:off x="9253728" y="5765740"/>
            <a:ext cx="3945846" cy="21717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Create &amp; route quotation requests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Store quotations &amp; policy records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Track payments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Record cancellations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Process refunds</a:t>
            </a:r>
          </a:p>
          <a:p>
            <a:pPr algn="l">
              <a:lnSpc>
                <a:spcPts val="2400"/>
              </a:lnSpc>
            </a:pPr>
          </a:p>
        </p:txBody>
      </p:sp>
      <p:sp>
        <p:nvSpPr>
          <p:cNvPr name="Freeform 48" id="48"/>
          <p:cNvSpPr/>
          <p:nvPr/>
        </p:nvSpPr>
        <p:spPr>
          <a:xfrm flipH="false" flipV="false" rot="0">
            <a:off x="14782295"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49" id="49"/>
          <p:cNvGrpSpPr/>
          <p:nvPr/>
        </p:nvGrpSpPr>
        <p:grpSpPr>
          <a:xfrm rot="0">
            <a:off x="14941296" y="2779776"/>
            <a:ext cx="1353312" cy="1353312"/>
            <a:chOff x="0" y="0"/>
            <a:chExt cx="1804416" cy="1804416"/>
          </a:xfrm>
        </p:grpSpPr>
        <p:sp>
          <p:nvSpPr>
            <p:cNvPr name="Freeform 50" id="5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30"/>
              <a:stretch>
                <a:fillRect l="0" t="0" r="0" b="0"/>
              </a:stretch>
            </a:blipFill>
          </p:spPr>
        </p:sp>
      </p:grpSp>
      <p:grpSp>
        <p:nvGrpSpPr>
          <p:cNvPr name="Group 51" id="51"/>
          <p:cNvGrpSpPr/>
          <p:nvPr/>
        </p:nvGrpSpPr>
        <p:grpSpPr>
          <a:xfrm rot="0">
            <a:off x="13606272" y="4608576"/>
            <a:ext cx="4023360" cy="731520"/>
            <a:chOff x="0" y="0"/>
            <a:chExt cx="5364480" cy="975360"/>
          </a:xfrm>
        </p:grpSpPr>
        <p:sp>
          <p:nvSpPr>
            <p:cNvPr name="Freeform 52" id="5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53" id="53"/>
          <p:cNvGrpSpPr/>
          <p:nvPr/>
        </p:nvGrpSpPr>
        <p:grpSpPr>
          <a:xfrm rot="0">
            <a:off x="13606272" y="4565714"/>
            <a:ext cx="4023360" cy="774382"/>
            <a:chOff x="0" y="0"/>
            <a:chExt cx="5364480" cy="1032510"/>
          </a:xfrm>
        </p:grpSpPr>
        <p:sp>
          <p:nvSpPr>
            <p:cNvPr name="Freeform 54" id="5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55" id="5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Insurance Provider</a:t>
              </a:r>
            </a:p>
          </p:txBody>
        </p:sp>
      </p:grpSp>
      <p:sp>
        <p:nvSpPr>
          <p:cNvPr name="Freeform 56" id="56"/>
          <p:cNvSpPr/>
          <p:nvPr/>
        </p:nvSpPr>
        <p:spPr>
          <a:xfrm flipH="false" flipV="false" rot="0">
            <a:off x="14873735"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57" id="57"/>
          <p:cNvSpPr txBox="true"/>
          <p:nvPr/>
        </p:nvSpPr>
        <p:spPr>
          <a:xfrm rot="0">
            <a:off x="13712600" y="5765740"/>
            <a:ext cx="3917032" cy="21717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Evaluate quotation requests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Calculate premium &amp; coverage</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Return quotation options or decline</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Issue &amp; activate policies</a:t>
            </a:r>
          </a:p>
          <a:p>
            <a:pPr algn="l" marL="431801" indent="-215900" lvl="1">
              <a:lnSpc>
                <a:spcPts val="2400"/>
              </a:lnSpc>
              <a:buFont typeface="Arial"/>
              <a:buChar char="•"/>
            </a:pPr>
            <a:r>
              <a:rPr lang="en-US" sz="2000">
                <a:solidFill>
                  <a:srgbClr val="1A1030"/>
                </a:solidFill>
                <a:latin typeface="Calibri (MS)"/>
                <a:ea typeface="Calibri (MS)"/>
                <a:cs typeface="Calibri (MS)"/>
                <a:sym typeface="Calibri (MS)"/>
              </a:rPr>
              <a:t>Cancel policies when approved</a:t>
            </a:r>
          </a:p>
          <a:p>
            <a:pPr algn="l">
              <a:lnSpc>
                <a:spcPts val="24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354125" y="2930948"/>
            <a:ext cx="17453173" cy="5912262"/>
          </a:xfrm>
          <a:custGeom>
            <a:avLst/>
            <a:gdLst/>
            <a:ahLst/>
            <a:cxnLst/>
            <a:rect r="r" b="b" t="t" l="l"/>
            <a:pathLst>
              <a:path h="5912262" w="17453173">
                <a:moveTo>
                  <a:pt x="0" y="0"/>
                </a:moveTo>
                <a:lnTo>
                  <a:pt x="17453174" y="0"/>
                </a:lnTo>
                <a:lnTo>
                  <a:pt x="17453174" y="5912263"/>
                </a:lnTo>
                <a:lnTo>
                  <a:pt x="0" y="5912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54125" y="1988927"/>
            <a:ext cx="5288940" cy="363691"/>
          </a:xfrm>
          <a:prstGeom prst="rect">
            <a:avLst/>
          </a:prstGeom>
        </p:spPr>
        <p:txBody>
          <a:bodyPr anchor="t" rtlCol="false" tIns="0" lIns="0" bIns="0" rIns="0">
            <a:spAutoFit/>
          </a:bodyPr>
          <a:lstStyle/>
          <a:p>
            <a:pPr algn="ctr">
              <a:lnSpc>
                <a:spcPts val="3054"/>
              </a:lnSpc>
            </a:pPr>
            <a:r>
              <a:rPr lang="en-US" b="true" sz="2181" u="sng">
                <a:solidFill>
                  <a:srgbClr val="000000"/>
                </a:solidFill>
                <a:latin typeface="Canva Sans Bold"/>
                <a:ea typeface="Canva Sans Bold"/>
                <a:cs typeface="Canva Sans Bold"/>
                <a:sym typeface="Canva Sans Bold"/>
                <a:hlinkClick r:id="rId7" tooltip="https://github.com/anhtnt90dev/rookies-data-dn-2026/blob/0d42357af1d96d4d43167e3c045e6b1b1d86e8b0/docs/business-process/diagram/bpmn.svg"/>
              </a:rPr>
              <a:t>docs/business-process/bpmn.svg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412750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15" id="15"/>
          <p:cNvSpPr/>
          <p:nvPr/>
        </p:nvSpPr>
        <p:spPr>
          <a:xfrm flipH="false" flipV="false" rot="0">
            <a:off x="535943" y="1998983"/>
            <a:ext cx="3957256" cy="1031177"/>
          </a:xfrm>
          <a:custGeom>
            <a:avLst/>
            <a:gdLst/>
            <a:ahLst/>
            <a:cxnLst/>
            <a:rect r="r" b="b" t="t" l="l"/>
            <a:pathLst>
              <a:path h="1031177" w="3957256">
                <a:moveTo>
                  <a:pt x="0" y="0"/>
                </a:moveTo>
                <a:lnTo>
                  <a:pt x="3957257" y="0"/>
                </a:lnTo>
                <a:lnTo>
                  <a:pt x="3957257" y="1031177"/>
                </a:lnTo>
                <a:lnTo>
                  <a:pt x="0" y="10311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 cy="1005840"/>
            <a:chOff x="0" y="0"/>
            <a:chExt cx="1097280" cy="1341120"/>
          </a:xfrm>
        </p:grpSpPr>
        <p:sp>
          <p:nvSpPr>
            <p:cNvPr name="Freeform 17" id="17"/>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8" id="18"/>
          <p:cNvGrpSpPr/>
          <p:nvPr/>
        </p:nvGrpSpPr>
        <p:grpSpPr>
          <a:xfrm rot="0">
            <a:off x="548640" y="1954530"/>
            <a:ext cx="822960" cy="1062990"/>
            <a:chOff x="0" y="0"/>
            <a:chExt cx="1097280" cy="1417320"/>
          </a:xfrm>
        </p:grpSpPr>
        <p:sp>
          <p:nvSpPr>
            <p:cNvPr name="Freeform 19" id="19"/>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20" id="20"/>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1</a:t>
              </a:r>
            </a:p>
          </p:txBody>
        </p:sp>
      </p:grpSp>
      <p:grpSp>
        <p:nvGrpSpPr>
          <p:cNvPr name="Group 21" id="21"/>
          <p:cNvGrpSpPr/>
          <p:nvPr/>
        </p:nvGrpSpPr>
        <p:grpSpPr>
          <a:xfrm rot="0">
            <a:off x="1371600" y="2011680"/>
            <a:ext cx="3108960" cy="1005840"/>
            <a:chOff x="0" y="0"/>
            <a:chExt cx="4145280" cy="1341120"/>
          </a:xfrm>
        </p:grpSpPr>
        <p:sp>
          <p:nvSpPr>
            <p:cNvPr name="Freeform 22" id="22"/>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23" id="23"/>
          <p:cNvGrpSpPr/>
          <p:nvPr/>
        </p:nvGrpSpPr>
        <p:grpSpPr>
          <a:xfrm rot="0">
            <a:off x="1371600" y="1975961"/>
            <a:ext cx="3108960" cy="1041559"/>
            <a:chOff x="0" y="0"/>
            <a:chExt cx="4145280" cy="1388745"/>
          </a:xfrm>
        </p:grpSpPr>
        <p:sp>
          <p:nvSpPr>
            <p:cNvPr name="Freeform 24" id="24"/>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25" id="25"/>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Quotation Request</a:t>
              </a:r>
            </a:p>
          </p:txBody>
        </p:sp>
      </p:grpSp>
      <p:sp>
        <p:nvSpPr>
          <p:cNvPr name="Freeform 26" id="26"/>
          <p:cNvSpPr/>
          <p:nvPr/>
        </p:nvSpPr>
        <p:spPr>
          <a:xfrm flipH="false" flipV="false" rot="0">
            <a:off x="535943" y="3004823"/>
            <a:ext cx="3957256" cy="4963096"/>
          </a:xfrm>
          <a:custGeom>
            <a:avLst/>
            <a:gdLst/>
            <a:ahLst/>
            <a:cxnLst/>
            <a:rect r="r" b="b" t="t" l="l"/>
            <a:pathLst>
              <a:path h="4963096" w="3957256">
                <a:moveTo>
                  <a:pt x="0" y="0"/>
                </a:moveTo>
                <a:lnTo>
                  <a:pt x="3957257" y="0"/>
                </a:lnTo>
                <a:lnTo>
                  <a:pt x="3957257" y="4963097"/>
                </a:lnTo>
                <a:lnTo>
                  <a:pt x="0" y="49630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86512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1243584" y="3255264"/>
            <a:ext cx="3017520" cy="1097280"/>
            <a:chOff x="0" y="0"/>
            <a:chExt cx="4023360" cy="1463040"/>
          </a:xfrm>
        </p:grpSpPr>
        <p:sp>
          <p:nvSpPr>
            <p:cNvPr name="Freeform 29" id="29"/>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0" id="30"/>
          <p:cNvGrpSpPr/>
          <p:nvPr/>
        </p:nvGrpSpPr>
        <p:grpSpPr>
          <a:xfrm rot="0">
            <a:off x="1243584" y="3219545"/>
            <a:ext cx="3017520" cy="1132999"/>
            <a:chOff x="0" y="0"/>
            <a:chExt cx="4023360" cy="1510665"/>
          </a:xfrm>
        </p:grpSpPr>
        <p:sp>
          <p:nvSpPr>
            <p:cNvPr name="Freeform 31" id="31"/>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2" id="32"/>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requests quotation</a:t>
              </a:r>
            </a:p>
          </p:txBody>
        </p:sp>
      </p:grpSp>
      <p:sp>
        <p:nvSpPr>
          <p:cNvPr name="Freeform 33" id="33"/>
          <p:cNvSpPr/>
          <p:nvPr/>
        </p:nvSpPr>
        <p:spPr>
          <a:xfrm flipH="false" flipV="false" rot="0">
            <a:off x="86512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1243584" y="4754880"/>
            <a:ext cx="3017520" cy="1097280"/>
            <a:chOff x="0" y="0"/>
            <a:chExt cx="4023360" cy="1463040"/>
          </a:xfrm>
        </p:grpSpPr>
        <p:sp>
          <p:nvSpPr>
            <p:cNvPr name="Freeform 35" id="35"/>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6" id="36"/>
          <p:cNvGrpSpPr/>
          <p:nvPr/>
        </p:nvGrpSpPr>
        <p:grpSpPr>
          <a:xfrm rot="0">
            <a:off x="1243584" y="4719161"/>
            <a:ext cx="3017520" cy="1132999"/>
            <a:chOff x="0" y="0"/>
            <a:chExt cx="4023360" cy="1510665"/>
          </a:xfrm>
        </p:grpSpPr>
        <p:sp>
          <p:nvSpPr>
            <p:cNvPr name="Freeform 37" id="37"/>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8" id="38"/>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collects needs</a:t>
              </a:r>
            </a:p>
          </p:txBody>
        </p:sp>
      </p:grpSp>
      <p:sp>
        <p:nvSpPr>
          <p:cNvPr name="Freeform 39" id="39"/>
          <p:cNvSpPr/>
          <p:nvPr/>
        </p:nvSpPr>
        <p:spPr>
          <a:xfrm flipH="false" flipV="false" rot="0">
            <a:off x="86512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0" id="40"/>
          <p:cNvGrpSpPr/>
          <p:nvPr/>
        </p:nvGrpSpPr>
        <p:grpSpPr>
          <a:xfrm rot="0">
            <a:off x="1243584" y="6254496"/>
            <a:ext cx="3017520" cy="1097280"/>
            <a:chOff x="0" y="0"/>
            <a:chExt cx="4023360" cy="1463040"/>
          </a:xfrm>
        </p:grpSpPr>
        <p:sp>
          <p:nvSpPr>
            <p:cNvPr name="Freeform 41" id="4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42" id="42"/>
          <p:cNvGrpSpPr/>
          <p:nvPr/>
        </p:nvGrpSpPr>
        <p:grpSpPr>
          <a:xfrm rot="0">
            <a:off x="1243584" y="6218777"/>
            <a:ext cx="3017520" cy="1132999"/>
            <a:chOff x="0" y="0"/>
            <a:chExt cx="4023360" cy="1510665"/>
          </a:xfrm>
        </p:grpSpPr>
        <p:sp>
          <p:nvSpPr>
            <p:cNvPr name="Freeform 43" id="4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44" id="4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prepares request</a:t>
              </a:r>
            </a:p>
          </p:txBody>
        </p:sp>
      </p:grpSp>
      <p:sp>
        <p:nvSpPr>
          <p:cNvPr name="Freeform 45" id="45"/>
          <p:cNvSpPr/>
          <p:nvPr/>
        </p:nvSpPr>
        <p:spPr>
          <a:xfrm flipH="false" flipV="false" rot="0">
            <a:off x="8399783" y="2454440"/>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46" id="46"/>
          <p:cNvSpPr/>
          <p:nvPr/>
        </p:nvSpPr>
        <p:spPr>
          <a:xfrm flipH="false" flipV="false" rot="0">
            <a:off x="483362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7" id="47"/>
          <p:cNvGrpSpPr/>
          <p:nvPr/>
        </p:nvGrpSpPr>
        <p:grpSpPr>
          <a:xfrm rot="0">
            <a:off x="4846320" y="2011680"/>
            <a:ext cx="822960" cy="1005840"/>
            <a:chOff x="0" y="0"/>
            <a:chExt cx="1097280" cy="1341120"/>
          </a:xfrm>
        </p:grpSpPr>
        <p:sp>
          <p:nvSpPr>
            <p:cNvPr name="Freeform 48" id="48"/>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49" id="49"/>
          <p:cNvGrpSpPr/>
          <p:nvPr/>
        </p:nvGrpSpPr>
        <p:grpSpPr>
          <a:xfrm rot="0">
            <a:off x="4846320" y="1954530"/>
            <a:ext cx="822960" cy="1062990"/>
            <a:chOff x="0" y="0"/>
            <a:chExt cx="1097280" cy="1417320"/>
          </a:xfrm>
        </p:grpSpPr>
        <p:sp>
          <p:nvSpPr>
            <p:cNvPr name="Freeform 50" id="50"/>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51" id="51"/>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2</a:t>
              </a:r>
            </a:p>
          </p:txBody>
        </p:sp>
      </p:grpSp>
      <p:grpSp>
        <p:nvGrpSpPr>
          <p:cNvPr name="Group 52" id="52"/>
          <p:cNvGrpSpPr/>
          <p:nvPr/>
        </p:nvGrpSpPr>
        <p:grpSpPr>
          <a:xfrm rot="0">
            <a:off x="5669280" y="2011680"/>
            <a:ext cx="3108960" cy="1005840"/>
            <a:chOff x="0" y="0"/>
            <a:chExt cx="4145280" cy="1341120"/>
          </a:xfrm>
        </p:grpSpPr>
        <p:sp>
          <p:nvSpPr>
            <p:cNvPr name="Freeform 53" id="53"/>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54" id="54"/>
          <p:cNvGrpSpPr/>
          <p:nvPr/>
        </p:nvGrpSpPr>
        <p:grpSpPr>
          <a:xfrm rot="0">
            <a:off x="5669280" y="1975961"/>
            <a:ext cx="3108960" cy="1041559"/>
            <a:chOff x="0" y="0"/>
            <a:chExt cx="4145280" cy="1388745"/>
          </a:xfrm>
        </p:grpSpPr>
        <p:sp>
          <p:nvSpPr>
            <p:cNvPr name="Freeform 55" id="55"/>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56" id="56"/>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Quote &amp; Accept</a:t>
              </a:r>
            </a:p>
          </p:txBody>
        </p:sp>
      </p:grpSp>
      <p:sp>
        <p:nvSpPr>
          <p:cNvPr name="Freeform 57" id="57"/>
          <p:cNvSpPr/>
          <p:nvPr/>
        </p:nvSpPr>
        <p:spPr>
          <a:xfrm flipH="false" flipV="false" rot="0">
            <a:off x="483362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8" id="58"/>
          <p:cNvSpPr/>
          <p:nvPr/>
        </p:nvSpPr>
        <p:spPr>
          <a:xfrm flipH="false" flipV="false" rot="0">
            <a:off x="516280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9" id="59"/>
          <p:cNvGrpSpPr/>
          <p:nvPr/>
        </p:nvGrpSpPr>
        <p:grpSpPr>
          <a:xfrm rot="0">
            <a:off x="5541264" y="3255264"/>
            <a:ext cx="3017520" cy="1097280"/>
            <a:chOff x="0" y="0"/>
            <a:chExt cx="4023360" cy="1463040"/>
          </a:xfrm>
        </p:grpSpPr>
        <p:sp>
          <p:nvSpPr>
            <p:cNvPr name="Freeform 60" id="60"/>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1" id="61"/>
          <p:cNvGrpSpPr/>
          <p:nvPr/>
        </p:nvGrpSpPr>
        <p:grpSpPr>
          <a:xfrm rot="0">
            <a:off x="5541264" y="3219545"/>
            <a:ext cx="3017520" cy="1132999"/>
            <a:chOff x="0" y="0"/>
            <a:chExt cx="4023360" cy="1510665"/>
          </a:xfrm>
        </p:grpSpPr>
        <p:sp>
          <p:nvSpPr>
            <p:cNvPr name="Freeform 62" id="62"/>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3" id="63"/>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calculates premium</a:t>
              </a:r>
            </a:p>
          </p:txBody>
        </p:sp>
      </p:grpSp>
      <p:sp>
        <p:nvSpPr>
          <p:cNvPr name="Freeform 64" id="64"/>
          <p:cNvSpPr/>
          <p:nvPr/>
        </p:nvSpPr>
        <p:spPr>
          <a:xfrm flipH="false" flipV="false" rot="0">
            <a:off x="516280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5" id="65"/>
          <p:cNvGrpSpPr/>
          <p:nvPr/>
        </p:nvGrpSpPr>
        <p:grpSpPr>
          <a:xfrm rot="0">
            <a:off x="5541264" y="4754880"/>
            <a:ext cx="3017520" cy="1097280"/>
            <a:chOff x="0" y="0"/>
            <a:chExt cx="4023360" cy="1463040"/>
          </a:xfrm>
        </p:grpSpPr>
        <p:sp>
          <p:nvSpPr>
            <p:cNvPr name="Freeform 66" id="66"/>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7" id="67"/>
          <p:cNvGrpSpPr/>
          <p:nvPr/>
        </p:nvGrpSpPr>
        <p:grpSpPr>
          <a:xfrm rot="0">
            <a:off x="5541264" y="4719161"/>
            <a:ext cx="3017520" cy="1132999"/>
            <a:chOff x="0" y="0"/>
            <a:chExt cx="4023360" cy="1510665"/>
          </a:xfrm>
        </p:grpSpPr>
        <p:sp>
          <p:nvSpPr>
            <p:cNvPr name="Freeform 68" id="68"/>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9" id="69"/>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presents quotation</a:t>
              </a:r>
            </a:p>
          </p:txBody>
        </p:sp>
      </p:grpSp>
      <p:sp>
        <p:nvSpPr>
          <p:cNvPr name="Freeform 70" id="70"/>
          <p:cNvSpPr/>
          <p:nvPr/>
        </p:nvSpPr>
        <p:spPr>
          <a:xfrm flipH="false" flipV="false" rot="0">
            <a:off x="516280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71" id="71"/>
          <p:cNvGrpSpPr/>
          <p:nvPr/>
        </p:nvGrpSpPr>
        <p:grpSpPr>
          <a:xfrm rot="0">
            <a:off x="5541264" y="6254496"/>
            <a:ext cx="3017520" cy="1097280"/>
            <a:chOff x="0" y="0"/>
            <a:chExt cx="4023360" cy="1463040"/>
          </a:xfrm>
        </p:grpSpPr>
        <p:sp>
          <p:nvSpPr>
            <p:cNvPr name="Freeform 72" id="72"/>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73" id="73"/>
          <p:cNvGrpSpPr/>
          <p:nvPr/>
        </p:nvGrpSpPr>
        <p:grpSpPr>
          <a:xfrm rot="0">
            <a:off x="5541264" y="6218777"/>
            <a:ext cx="3017520" cy="1132999"/>
            <a:chOff x="0" y="0"/>
            <a:chExt cx="4023360" cy="1510665"/>
          </a:xfrm>
        </p:grpSpPr>
        <p:sp>
          <p:nvSpPr>
            <p:cNvPr name="Freeform 74" id="74"/>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75" id="75"/>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reviews &amp; decides</a:t>
              </a:r>
            </a:p>
          </p:txBody>
        </p:sp>
      </p:grpSp>
      <p:sp>
        <p:nvSpPr>
          <p:cNvPr name="Freeform 76" id="76"/>
          <p:cNvSpPr/>
          <p:nvPr/>
        </p:nvSpPr>
        <p:spPr>
          <a:xfrm flipH="false" flipV="false" rot="0">
            <a:off x="1272286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77" id="77"/>
          <p:cNvSpPr/>
          <p:nvPr/>
        </p:nvSpPr>
        <p:spPr>
          <a:xfrm flipH="false" flipV="false" rot="0">
            <a:off x="913130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8" id="78"/>
          <p:cNvGrpSpPr/>
          <p:nvPr/>
        </p:nvGrpSpPr>
        <p:grpSpPr>
          <a:xfrm rot="0">
            <a:off x="9144000" y="2011680"/>
            <a:ext cx="822960" cy="1005840"/>
            <a:chOff x="0" y="0"/>
            <a:chExt cx="1097280" cy="1341120"/>
          </a:xfrm>
        </p:grpSpPr>
        <p:sp>
          <p:nvSpPr>
            <p:cNvPr name="Freeform 79" id="7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80" id="80"/>
          <p:cNvGrpSpPr/>
          <p:nvPr/>
        </p:nvGrpSpPr>
        <p:grpSpPr>
          <a:xfrm rot="0">
            <a:off x="9144000" y="1954530"/>
            <a:ext cx="822960" cy="1062990"/>
            <a:chOff x="0" y="0"/>
            <a:chExt cx="1097280" cy="1417320"/>
          </a:xfrm>
        </p:grpSpPr>
        <p:sp>
          <p:nvSpPr>
            <p:cNvPr name="Freeform 81" id="8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82" id="8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3</a:t>
              </a:r>
            </a:p>
          </p:txBody>
        </p:sp>
      </p:grpSp>
      <p:grpSp>
        <p:nvGrpSpPr>
          <p:cNvPr name="Group 83" id="83"/>
          <p:cNvGrpSpPr/>
          <p:nvPr/>
        </p:nvGrpSpPr>
        <p:grpSpPr>
          <a:xfrm rot="0">
            <a:off x="9966960" y="2011680"/>
            <a:ext cx="3108960" cy="1005840"/>
            <a:chOff x="0" y="0"/>
            <a:chExt cx="4145280" cy="1341120"/>
          </a:xfrm>
        </p:grpSpPr>
        <p:sp>
          <p:nvSpPr>
            <p:cNvPr name="Freeform 84" id="8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85" id="85"/>
          <p:cNvGrpSpPr/>
          <p:nvPr/>
        </p:nvGrpSpPr>
        <p:grpSpPr>
          <a:xfrm rot="0">
            <a:off x="9966960" y="1975961"/>
            <a:ext cx="3108960" cy="1041559"/>
            <a:chOff x="0" y="0"/>
            <a:chExt cx="4145280" cy="1388745"/>
          </a:xfrm>
        </p:grpSpPr>
        <p:sp>
          <p:nvSpPr>
            <p:cNvPr name="Freeform 86" id="8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87" id="8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Policy Issuance</a:t>
              </a:r>
            </a:p>
          </p:txBody>
        </p:sp>
      </p:grpSp>
      <p:sp>
        <p:nvSpPr>
          <p:cNvPr name="Freeform 88" id="88"/>
          <p:cNvSpPr/>
          <p:nvPr/>
        </p:nvSpPr>
        <p:spPr>
          <a:xfrm flipH="false" flipV="false" rot="0">
            <a:off x="913130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89" id="89"/>
          <p:cNvSpPr/>
          <p:nvPr/>
        </p:nvSpPr>
        <p:spPr>
          <a:xfrm flipH="false" flipV="false" rot="0">
            <a:off x="946048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0" id="90"/>
          <p:cNvGrpSpPr/>
          <p:nvPr/>
        </p:nvGrpSpPr>
        <p:grpSpPr>
          <a:xfrm rot="0">
            <a:off x="9838944" y="3255264"/>
            <a:ext cx="3017520" cy="1097280"/>
            <a:chOff x="0" y="0"/>
            <a:chExt cx="4023360" cy="1463040"/>
          </a:xfrm>
        </p:grpSpPr>
        <p:sp>
          <p:nvSpPr>
            <p:cNvPr name="Freeform 91" id="9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2" id="92"/>
          <p:cNvGrpSpPr/>
          <p:nvPr/>
        </p:nvGrpSpPr>
        <p:grpSpPr>
          <a:xfrm rot="0">
            <a:off x="9838944" y="3219545"/>
            <a:ext cx="3017520" cy="1132999"/>
            <a:chOff x="0" y="0"/>
            <a:chExt cx="4023360" cy="1510665"/>
          </a:xfrm>
        </p:grpSpPr>
        <p:sp>
          <p:nvSpPr>
            <p:cNvPr name="Freeform 93" id="9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94" id="9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requests issuance</a:t>
              </a:r>
            </a:p>
          </p:txBody>
        </p:sp>
      </p:grpSp>
      <p:sp>
        <p:nvSpPr>
          <p:cNvPr name="Freeform 95" id="95"/>
          <p:cNvSpPr/>
          <p:nvPr/>
        </p:nvSpPr>
        <p:spPr>
          <a:xfrm flipH="false" flipV="false" rot="0">
            <a:off x="946048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6" id="96"/>
          <p:cNvGrpSpPr/>
          <p:nvPr/>
        </p:nvGrpSpPr>
        <p:grpSpPr>
          <a:xfrm rot="0">
            <a:off x="9838944" y="4754880"/>
            <a:ext cx="3017520" cy="1097280"/>
            <a:chOff x="0" y="0"/>
            <a:chExt cx="4023360" cy="1463040"/>
          </a:xfrm>
        </p:grpSpPr>
        <p:sp>
          <p:nvSpPr>
            <p:cNvPr name="Freeform 97" id="9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8" id="98"/>
          <p:cNvGrpSpPr/>
          <p:nvPr/>
        </p:nvGrpSpPr>
        <p:grpSpPr>
          <a:xfrm rot="0">
            <a:off x="9838944" y="4719161"/>
            <a:ext cx="3017520" cy="1132999"/>
            <a:chOff x="0" y="0"/>
            <a:chExt cx="4023360" cy="1510665"/>
          </a:xfrm>
        </p:grpSpPr>
        <p:sp>
          <p:nvSpPr>
            <p:cNvPr name="Freeform 99" id="9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0" id="10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creates issued policy</a:t>
              </a:r>
            </a:p>
          </p:txBody>
        </p:sp>
      </p:grpSp>
      <p:sp>
        <p:nvSpPr>
          <p:cNvPr name="Freeform 101" id="101"/>
          <p:cNvSpPr/>
          <p:nvPr/>
        </p:nvSpPr>
        <p:spPr>
          <a:xfrm flipH="false" flipV="false" rot="0">
            <a:off x="946048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02" id="102"/>
          <p:cNvGrpSpPr/>
          <p:nvPr/>
        </p:nvGrpSpPr>
        <p:grpSpPr>
          <a:xfrm rot="0">
            <a:off x="9838944" y="6254496"/>
            <a:ext cx="3017520" cy="1097280"/>
            <a:chOff x="0" y="0"/>
            <a:chExt cx="4023360" cy="1463040"/>
          </a:xfrm>
        </p:grpSpPr>
        <p:sp>
          <p:nvSpPr>
            <p:cNvPr name="Freeform 103" id="10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04" id="104"/>
          <p:cNvGrpSpPr/>
          <p:nvPr/>
        </p:nvGrpSpPr>
        <p:grpSpPr>
          <a:xfrm rot="0">
            <a:off x="9838944" y="6218777"/>
            <a:ext cx="3017520" cy="1132999"/>
            <a:chOff x="0" y="0"/>
            <a:chExt cx="4023360" cy="1510665"/>
          </a:xfrm>
        </p:grpSpPr>
        <p:sp>
          <p:nvSpPr>
            <p:cNvPr name="Freeform 105" id="10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6" id="10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forwards to customer</a:t>
              </a:r>
            </a:p>
          </p:txBody>
        </p:sp>
      </p:grpSp>
      <p:sp>
        <p:nvSpPr>
          <p:cNvPr name="Freeform 107" id="107"/>
          <p:cNvSpPr/>
          <p:nvPr/>
        </p:nvSpPr>
        <p:spPr>
          <a:xfrm flipH="false" flipV="false" rot="0">
            <a:off x="1342898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108" id="108"/>
          <p:cNvGrpSpPr/>
          <p:nvPr/>
        </p:nvGrpSpPr>
        <p:grpSpPr>
          <a:xfrm rot="0">
            <a:off x="13441680" y="2011680"/>
            <a:ext cx="822960" cy="1005840"/>
            <a:chOff x="0" y="0"/>
            <a:chExt cx="1097280" cy="1341120"/>
          </a:xfrm>
        </p:grpSpPr>
        <p:sp>
          <p:nvSpPr>
            <p:cNvPr name="Freeform 109" id="10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10" id="110"/>
          <p:cNvGrpSpPr/>
          <p:nvPr/>
        </p:nvGrpSpPr>
        <p:grpSpPr>
          <a:xfrm rot="0">
            <a:off x="13441680" y="1954530"/>
            <a:ext cx="822960" cy="1062990"/>
            <a:chOff x="0" y="0"/>
            <a:chExt cx="1097280" cy="1417320"/>
          </a:xfrm>
        </p:grpSpPr>
        <p:sp>
          <p:nvSpPr>
            <p:cNvPr name="Freeform 111" id="11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112" id="11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4</a:t>
              </a:r>
            </a:p>
          </p:txBody>
        </p:sp>
      </p:grpSp>
      <p:grpSp>
        <p:nvGrpSpPr>
          <p:cNvPr name="Group 113" id="113"/>
          <p:cNvGrpSpPr/>
          <p:nvPr/>
        </p:nvGrpSpPr>
        <p:grpSpPr>
          <a:xfrm rot="0">
            <a:off x="14264640" y="2011680"/>
            <a:ext cx="3108960" cy="1005840"/>
            <a:chOff x="0" y="0"/>
            <a:chExt cx="4145280" cy="1341120"/>
          </a:xfrm>
        </p:grpSpPr>
        <p:sp>
          <p:nvSpPr>
            <p:cNvPr name="Freeform 114" id="11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115" id="115"/>
          <p:cNvGrpSpPr/>
          <p:nvPr/>
        </p:nvGrpSpPr>
        <p:grpSpPr>
          <a:xfrm rot="0">
            <a:off x="14264640" y="1975961"/>
            <a:ext cx="3108960" cy="1041559"/>
            <a:chOff x="0" y="0"/>
            <a:chExt cx="4145280" cy="1388745"/>
          </a:xfrm>
        </p:grpSpPr>
        <p:sp>
          <p:nvSpPr>
            <p:cNvPr name="Freeform 116" id="11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117" id="11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Payment &amp; Activate</a:t>
              </a:r>
            </a:p>
          </p:txBody>
        </p:sp>
      </p:grpSp>
      <p:sp>
        <p:nvSpPr>
          <p:cNvPr name="Freeform 118" id="118"/>
          <p:cNvSpPr/>
          <p:nvPr/>
        </p:nvSpPr>
        <p:spPr>
          <a:xfrm flipH="false" flipV="false" rot="0">
            <a:off x="1342898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19" id="119"/>
          <p:cNvSpPr/>
          <p:nvPr/>
        </p:nvSpPr>
        <p:spPr>
          <a:xfrm flipH="false" flipV="false" rot="0">
            <a:off x="1375816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0" id="120"/>
          <p:cNvGrpSpPr/>
          <p:nvPr/>
        </p:nvGrpSpPr>
        <p:grpSpPr>
          <a:xfrm rot="0">
            <a:off x="14136624" y="3255264"/>
            <a:ext cx="3017520" cy="1097280"/>
            <a:chOff x="0" y="0"/>
            <a:chExt cx="4023360" cy="1463040"/>
          </a:xfrm>
        </p:grpSpPr>
        <p:sp>
          <p:nvSpPr>
            <p:cNvPr name="Freeform 121" id="12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2" id="122"/>
          <p:cNvGrpSpPr/>
          <p:nvPr/>
        </p:nvGrpSpPr>
        <p:grpSpPr>
          <a:xfrm rot="0">
            <a:off x="14136624" y="3219545"/>
            <a:ext cx="3017520" cy="1132999"/>
            <a:chOff x="0" y="0"/>
            <a:chExt cx="4023360" cy="1510665"/>
          </a:xfrm>
        </p:grpSpPr>
        <p:sp>
          <p:nvSpPr>
            <p:cNvPr name="Freeform 123" id="12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24" id="12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decides in timebox</a:t>
              </a:r>
            </a:p>
          </p:txBody>
        </p:sp>
      </p:grpSp>
      <p:sp>
        <p:nvSpPr>
          <p:cNvPr name="Freeform 125" id="125"/>
          <p:cNvSpPr/>
          <p:nvPr/>
        </p:nvSpPr>
        <p:spPr>
          <a:xfrm flipH="false" flipV="false" rot="0">
            <a:off x="1375816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6" id="126"/>
          <p:cNvGrpSpPr/>
          <p:nvPr/>
        </p:nvGrpSpPr>
        <p:grpSpPr>
          <a:xfrm rot="0">
            <a:off x="14136624" y="4754880"/>
            <a:ext cx="3017520" cy="1097280"/>
            <a:chOff x="0" y="0"/>
            <a:chExt cx="4023360" cy="1463040"/>
          </a:xfrm>
        </p:grpSpPr>
        <p:sp>
          <p:nvSpPr>
            <p:cNvPr name="Freeform 127" id="12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8" id="128"/>
          <p:cNvGrpSpPr/>
          <p:nvPr/>
        </p:nvGrpSpPr>
        <p:grpSpPr>
          <a:xfrm rot="0">
            <a:off x="14136624" y="4719161"/>
            <a:ext cx="3017520" cy="1132999"/>
            <a:chOff x="0" y="0"/>
            <a:chExt cx="4023360" cy="1510665"/>
          </a:xfrm>
        </p:grpSpPr>
        <p:sp>
          <p:nvSpPr>
            <p:cNvPr name="Freeform 129" id="12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0" id="13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Pay = ACTIVE · Cancel = CANCELLED</a:t>
              </a:r>
            </a:p>
          </p:txBody>
        </p:sp>
      </p:grpSp>
      <p:sp>
        <p:nvSpPr>
          <p:cNvPr name="Freeform 131" id="131"/>
          <p:cNvSpPr/>
          <p:nvPr/>
        </p:nvSpPr>
        <p:spPr>
          <a:xfrm flipH="false" flipV="false" rot="0">
            <a:off x="1375816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32" id="132"/>
          <p:cNvGrpSpPr/>
          <p:nvPr/>
        </p:nvGrpSpPr>
        <p:grpSpPr>
          <a:xfrm rot="0">
            <a:off x="14136624" y="6254496"/>
            <a:ext cx="3017520" cy="1097280"/>
            <a:chOff x="0" y="0"/>
            <a:chExt cx="4023360" cy="1463040"/>
          </a:xfrm>
        </p:grpSpPr>
        <p:sp>
          <p:nvSpPr>
            <p:cNvPr name="Freeform 133" id="13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34" id="134"/>
          <p:cNvGrpSpPr/>
          <p:nvPr/>
        </p:nvGrpSpPr>
        <p:grpSpPr>
          <a:xfrm rot="0">
            <a:off x="14136624" y="6218777"/>
            <a:ext cx="3017520" cy="1132999"/>
            <a:chOff x="0" y="0"/>
            <a:chExt cx="4023360" cy="1510665"/>
          </a:xfrm>
        </p:grpSpPr>
        <p:sp>
          <p:nvSpPr>
            <p:cNvPr name="Freeform 135" id="13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6" id="13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No action = EXPIRED</a:t>
              </a:r>
            </a:p>
          </p:txBody>
        </p:sp>
      </p:grpSp>
      <p:sp>
        <p:nvSpPr>
          <p:cNvPr name="Freeform 137" id="137"/>
          <p:cNvSpPr/>
          <p:nvPr/>
        </p:nvSpPr>
        <p:spPr>
          <a:xfrm flipH="false" flipV="false" rot="0">
            <a:off x="535943" y="8308343"/>
            <a:ext cx="17216056" cy="1214057"/>
          </a:xfrm>
          <a:custGeom>
            <a:avLst/>
            <a:gdLst/>
            <a:ahLst/>
            <a:cxnLst/>
            <a:rect r="r" b="b" t="t" l="l"/>
            <a:pathLst>
              <a:path h="1214057" w="17216056">
                <a:moveTo>
                  <a:pt x="0" y="0"/>
                </a:moveTo>
                <a:lnTo>
                  <a:pt x="17216057" y="0"/>
                </a:lnTo>
                <a:lnTo>
                  <a:pt x="17216057" y="1214057"/>
                </a:lnTo>
                <a:lnTo>
                  <a:pt x="0" y="121405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138" id="138"/>
          <p:cNvGrpSpPr/>
          <p:nvPr/>
        </p:nvGrpSpPr>
        <p:grpSpPr>
          <a:xfrm rot="0">
            <a:off x="731520" y="8449056"/>
            <a:ext cx="2743200" cy="914400"/>
            <a:chOff x="0" y="0"/>
            <a:chExt cx="3657600" cy="1219200"/>
          </a:xfrm>
        </p:grpSpPr>
        <p:sp>
          <p:nvSpPr>
            <p:cNvPr name="Freeform 139" id="139"/>
            <p:cNvSpPr/>
            <p:nvPr/>
          </p:nvSpPr>
          <p:spPr>
            <a:xfrm flipH="false" flipV="false" rot="0">
              <a:off x="0" y="0"/>
              <a:ext cx="3657600" cy="1219200"/>
            </a:xfrm>
            <a:custGeom>
              <a:avLst/>
              <a:gdLst/>
              <a:ahLst/>
              <a:cxnLst/>
              <a:rect r="r" b="b" t="t" l="l"/>
              <a:pathLst>
                <a:path h="1219200" w="3657600">
                  <a:moveTo>
                    <a:pt x="0" y="0"/>
                  </a:moveTo>
                  <a:lnTo>
                    <a:pt x="3657600" y="0"/>
                  </a:lnTo>
                  <a:lnTo>
                    <a:pt x="3657600" y="1219200"/>
                  </a:lnTo>
                  <a:lnTo>
                    <a:pt x="0" y="1219200"/>
                  </a:lnTo>
                  <a:close/>
                </a:path>
              </a:pathLst>
            </a:custGeom>
            <a:blipFill>
              <a:blip r:embed="rId3">
                <a:alphaModFix amt="0"/>
              </a:blip>
              <a:stretch>
                <a:fillRect l="0" t="-8414" r="0" b="-8414"/>
              </a:stretch>
            </a:blipFill>
          </p:spPr>
        </p:sp>
      </p:grpSp>
      <p:grpSp>
        <p:nvGrpSpPr>
          <p:cNvPr name="Group 140" id="140"/>
          <p:cNvGrpSpPr/>
          <p:nvPr/>
        </p:nvGrpSpPr>
        <p:grpSpPr>
          <a:xfrm rot="0">
            <a:off x="731520" y="8420481"/>
            <a:ext cx="2743200" cy="942975"/>
            <a:chOff x="0" y="0"/>
            <a:chExt cx="3657600" cy="1257300"/>
          </a:xfrm>
        </p:grpSpPr>
        <p:sp>
          <p:nvSpPr>
            <p:cNvPr name="Freeform 141" id="141"/>
            <p:cNvSpPr/>
            <p:nvPr/>
          </p:nvSpPr>
          <p:spPr>
            <a:xfrm flipH="false" flipV="false" rot="0">
              <a:off x="0" y="0"/>
              <a:ext cx="3657600" cy="1257300"/>
            </a:xfrm>
            <a:custGeom>
              <a:avLst/>
              <a:gdLst/>
              <a:ahLst/>
              <a:cxnLst/>
              <a:rect r="r" b="b" t="t" l="l"/>
              <a:pathLst>
                <a:path h="1257300" w="3657600">
                  <a:moveTo>
                    <a:pt x="0" y="0"/>
                  </a:moveTo>
                  <a:lnTo>
                    <a:pt x="3657600" y="0"/>
                  </a:lnTo>
                  <a:lnTo>
                    <a:pt x="3657600" y="1257300"/>
                  </a:lnTo>
                  <a:lnTo>
                    <a:pt x="0" y="1257300"/>
                  </a:lnTo>
                  <a:close/>
                </a:path>
              </a:pathLst>
            </a:custGeom>
            <a:blipFill>
              <a:blip r:embed="rId4">
                <a:alphaModFix amt="0"/>
              </a:blip>
              <a:stretch>
                <a:fillRect l="0" t="-6683" r="0" b="-6683"/>
              </a:stretch>
            </a:blipFill>
          </p:spPr>
        </p:sp>
        <p:sp>
          <p:nvSpPr>
            <p:cNvPr name="TextBox 142" id="142"/>
            <p:cNvSpPr txBox="true"/>
            <p:nvPr/>
          </p:nvSpPr>
          <p:spPr>
            <a:xfrm>
              <a:off x="0" y="-38100"/>
              <a:ext cx="3657600" cy="129540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Policy Status Flow:</a:t>
              </a:r>
            </a:p>
          </p:txBody>
        </p:sp>
      </p:grpSp>
      <p:grpSp>
        <p:nvGrpSpPr>
          <p:cNvPr name="Group 143" id="143"/>
          <p:cNvGrpSpPr/>
          <p:nvPr/>
        </p:nvGrpSpPr>
        <p:grpSpPr>
          <a:xfrm rot="0">
            <a:off x="3096263" y="8449056"/>
            <a:ext cx="1371600" cy="914400"/>
            <a:chOff x="0" y="0"/>
            <a:chExt cx="1828800" cy="1219200"/>
          </a:xfrm>
        </p:grpSpPr>
        <p:sp>
          <p:nvSpPr>
            <p:cNvPr name="Freeform 144" id="14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45" id="145"/>
          <p:cNvGrpSpPr/>
          <p:nvPr/>
        </p:nvGrpSpPr>
        <p:grpSpPr>
          <a:xfrm rot="0">
            <a:off x="3096263" y="8413337"/>
            <a:ext cx="1371600" cy="950119"/>
            <a:chOff x="0" y="0"/>
            <a:chExt cx="1828800" cy="1266825"/>
          </a:xfrm>
        </p:grpSpPr>
        <p:sp>
          <p:nvSpPr>
            <p:cNvPr name="Freeform 146" id="14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47" id="14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7B2FBE"/>
                  </a:solidFill>
                  <a:latin typeface="Calibri (MS) Bold"/>
                  <a:ea typeface="Calibri (MS) Bold"/>
                  <a:cs typeface="Calibri (MS) Bold"/>
                  <a:sym typeface="Calibri (MS) Bold"/>
                </a:rPr>
                <a:t>QUOTED</a:t>
              </a:r>
            </a:p>
          </p:txBody>
        </p:sp>
      </p:grpSp>
      <p:grpSp>
        <p:nvGrpSpPr>
          <p:cNvPr name="Group 148" id="148"/>
          <p:cNvGrpSpPr/>
          <p:nvPr/>
        </p:nvGrpSpPr>
        <p:grpSpPr>
          <a:xfrm rot="0">
            <a:off x="4072642" y="8434711"/>
            <a:ext cx="1371600" cy="914400"/>
            <a:chOff x="0" y="0"/>
            <a:chExt cx="1828800" cy="1219200"/>
          </a:xfrm>
        </p:grpSpPr>
        <p:sp>
          <p:nvSpPr>
            <p:cNvPr name="Freeform 149" id="14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0" id="150"/>
          <p:cNvGrpSpPr/>
          <p:nvPr/>
        </p:nvGrpSpPr>
        <p:grpSpPr>
          <a:xfrm rot="0">
            <a:off x="4072642" y="8398993"/>
            <a:ext cx="1371600" cy="950119"/>
            <a:chOff x="0" y="0"/>
            <a:chExt cx="1828800" cy="1266825"/>
          </a:xfrm>
        </p:grpSpPr>
        <p:sp>
          <p:nvSpPr>
            <p:cNvPr name="Freeform 151" id="15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2" id="15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53" id="153"/>
          <p:cNvGrpSpPr/>
          <p:nvPr/>
        </p:nvGrpSpPr>
        <p:grpSpPr>
          <a:xfrm rot="0">
            <a:off x="5303530" y="8449056"/>
            <a:ext cx="1371600" cy="914400"/>
            <a:chOff x="0" y="0"/>
            <a:chExt cx="1828800" cy="1219200"/>
          </a:xfrm>
        </p:grpSpPr>
        <p:sp>
          <p:nvSpPr>
            <p:cNvPr name="Freeform 154" id="15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5" id="155"/>
          <p:cNvGrpSpPr/>
          <p:nvPr/>
        </p:nvGrpSpPr>
        <p:grpSpPr>
          <a:xfrm rot="0">
            <a:off x="5303530" y="8413337"/>
            <a:ext cx="1371600" cy="950119"/>
            <a:chOff x="0" y="0"/>
            <a:chExt cx="1828800" cy="1266825"/>
          </a:xfrm>
        </p:grpSpPr>
        <p:sp>
          <p:nvSpPr>
            <p:cNvPr name="Freeform 156" id="15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7" id="15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ACCEPTED</a:t>
              </a:r>
            </a:p>
          </p:txBody>
        </p:sp>
      </p:grpSp>
      <p:grpSp>
        <p:nvGrpSpPr>
          <p:cNvPr name="Group 158" id="158"/>
          <p:cNvGrpSpPr/>
          <p:nvPr/>
        </p:nvGrpSpPr>
        <p:grpSpPr>
          <a:xfrm rot="0">
            <a:off x="6398895" y="8434711"/>
            <a:ext cx="1371600" cy="914400"/>
            <a:chOff x="0" y="0"/>
            <a:chExt cx="1828800" cy="1219200"/>
          </a:xfrm>
        </p:grpSpPr>
        <p:sp>
          <p:nvSpPr>
            <p:cNvPr name="Freeform 159" id="15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0" id="160"/>
          <p:cNvGrpSpPr/>
          <p:nvPr/>
        </p:nvGrpSpPr>
        <p:grpSpPr>
          <a:xfrm rot="0">
            <a:off x="6398895" y="8398993"/>
            <a:ext cx="1371600" cy="950119"/>
            <a:chOff x="0" y="0"/>
            <a:chExt cx="1828800" cy="1266825"/>
          </a:xfrm>
        </p:grpSpPr>
        <p:sp>
          <p:nvSpPr>
            <p:cNvPr name="Freeform 161" id="16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2" id="16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63" id="163"/>
          <p:cNvGrpSpPr/>
          <p:nvPr/>
        </p:nvGrpSpPr>
        <p:grpSpPr>
          <a:xfrm rot="0">
            <a:off x="7679055" y="8434711"/>
            <a:ext cx="1371600" cy="914400"/>
            <a:chOff x="0" y="0"/>
            <a:chExt cx="1828800" cy="1219200"/>
          </a:xfrm>
        </p:grpSpPr>
        <p:sp>
          <p:nvSpPr>
            <p:cNvPr name="Freeform 164" id="16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5" id="165"/>
          <p:cNvGrpSpPr/>
          <p:nvPr/>
        </p:nvGrpSpPr>
        <p:grpSpPr>
          <a:xfrm rot="0">
            <a:off x="7679055" y="8398993"/>
            <a:ext cx="1371600" cy="950119"/>
            <a:chOff x="0" y="0"/>
            <a:chExt cx="1828800" cy="1266825"/>
          </a:xfrm>
        </p:grpSpPr>
        <p:sp>
          <p:nvSpPr>
            <p:cNvPr name="Freeform 166" id="16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7" id="16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97706"/>
                  </a:solidFill>
                  <a:latin typeface="Calibri (MS) Bold"/>
                  <a:ea typeface="Calibri (MS) Bold"/>
                  <a:cs typeface="Calibri (MS) Bold"/>
                  <a:sym typeface="Calibri (MS) Bold"/>
                </a:rPr>
                <a:t>ISSUED</a:t>
              </a:r>
            </a:p>
          </p:txBody>
        </p:sp>
      </p:grpSp>
      <p:grpSp>
        <p:nvGrpSpPr>
          <p:cNvPr name="Group 168" id="168"/>
          <p:cNvGrpSpPr/>
          <p:nvPr/>
        </p:nvGrpSpPr>
        <p:grpSpPr>
          <a:xfrm rot="0">
            <a:off x="8869680" y="8434711"/>
            <a:ext cx="1371600" cy="914400"/>
            <a:chOff x="0" y="0"/>
            <a:chExt cx="1828800" cy="1219200"/>
          </a:xfrm>
        </p:grpSpPr>
        <p:sp>
          <p:nvSpPr>
            <p:cNvPr name="Freeform 169" id="16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0" id="170"/>
          <p:cNvGrpSpPr/>
          <p:nvPr/>
        </p:nvGrpSpPr>
        <p:grpSpPr>
          <a:xfrm rot="0">
            <a:off x="8869680" y="8398993"/>
            <a:ext cx="1371600" cy="950119"/>
            <a:chOff x="0" y="0"/>
            <a:chExt cx="1828800" cy="1266825"/>
          </a:xfrm>
        </p:grpSpPr>
        <p:sp>
          <p:nvSpPr>
            <p:cNvPr name="Freeform 171" id="17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2" id="17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73" id="173"/>
          <p:cNvGrpSpPr/>
          <p:nvPr/>
        </p:nvGrpSpPr>
        <p:grpSpPr>
          <a:xfrm rot="0">
            <a:off x="10050780" y="8434711"/>
            <a:ext cx="1371600" cy="914400"/>
            <a:chOff x="0" y="0"/>
            <a:chExt cx="1828800" cy="1219200"/>
          </a:xfrm>
        </p:grpSpPr>
        <p:sp>
          <p:nvSpPr>
            <p:cNvPr name="Freeform 174" id="17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5" id="175"/>
          <p:cNvGrpSpPr/>
          <p:nvPr/>
        </p:nvGrpSpPr>
        <p:grpSpPr>
          <a:xfrm rot="0">
            <a:off x="10050780" y="8398993"/>
            <a:ext cx="1371600" cy="950119"/>
            <a:chOff x="0" y="0"/>
            <a:chExt cx="1828800" cy="1266825"/>
          </a:xfrm>
        </p:grpSpPr>
        <p:sp>
          <p:nvSpPr>
            <p:cNvPr name="Freeform 176" id="17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7" id="17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ACTIVE</a:t>
              </a:r>
            </a:p>
          </p:txBody>
        </p:sp>
      </p:grpSp>
      <p:grpSp>
        <p:nvGrpSpPr>
          <p:cNvPr name="Group 178" id="178"/>
          <p:cNvGrpSpPr/>
          <p:nvPr/>
        </p:nvGrpSpPr>
        <p:grpSpPr>
          <a:xfrm rot="0">
            <a:off x="11079480" y="8458210"/>
            <a:ext cx="1371600" cy="914400"/>
            <a:chOff x="0" y="0"/>
            <a:chExt cx="1828800" cy="1219200"/>
          </a:xfrm>
        </p:grpSpPr>
        <p:sp>
          <p:nvSpPr>
            <p:cNvPr name="Freeform 179" id="17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0" id="180"/>
          <p:cNvGrpSpPr/>
          <p:nvPr/>
        </p:nvGrpSpPr>
        <p:grpSpPr>
          <a:xfrm rot="0">
            <a:off x="11079480" y="8422491"/>
            <a:ext cx="1371600" cy="950119"/>
            <a:chOff x="0" y="0"/>
            <a:chExt cx="1828800" cy="1266825"/>
          </a:xfrm>
        </p:grpSpPr>
        <p:sp>
          <p:nvSpPr>
            <p:cNvPr name="Freeform 181" id="18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2" id="18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83" id="183"/>
          <p:cNvGrpSpPr/>
          <p:nvPr/>
        </p:nvGrpSpPr>
        <p:grpSpPr>
          <a:xfrm rot="0">
            <a:off x="12260580" y="8434711"/>
            <a:ext cx="1371600" cy="914400"/>
            <a:chOff x="0" y="0"/>
            <a:chExt cx="1828800" cy="1219200"/>
          </a:xfrm>
        </p:grpSpPr>
        <p:sp>
          <p:nvSpPr>
            <p:cNvPr name="Freeform 184" id="18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5" id="185"/>
          <p:cNvGrpSpPr/>
          <p:nvPr/>
        </p:nvGrpSpPr>
        <p:grpSpPr>
          <a:xfrm rot="0">
            <a:off x="12260580" y="8398993"/>
            <a:ext cx="1371600" cy="950119"/>
            <a:chOff x="0" y="0"/>
            <a:chExt cx="1828800" cy="1266825"/>
          </a:xfrm>
        </p:grpSpPr>
        <p:sp>
          <p:nvSpPr>
            <p:cNvPr name="Freeform 186" id="18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7" id="18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D4444"/>
                  </a:solidFill>
                  <a:latin typeface="Calibri (MS) Bold"/>
                  <a:ea typeface="Calibri (MS) Bold"/>
                  <a:cs typeface="Calibri (MS) Bold"/>
                  <a:sym typeface="Calibri (MS) Bold"/>
                </a:rPr>
                <a:t>EXPIRED</a:t>
              </a:r>
            </a:p>
          </p:txBody>
        </p:sp>
      </p:grpSp>
      <p:grpSp>
        <p:nvGrpSpPr>
          <p:cNvPr name="Group 188" id="188"/>
          <p:cNvGrpSpPr/>
          <p:nvPr/>
        </p:nvGrpSpPr>
        <p:grpSpPr>
          <a:xfrm rot="0">
            <a:off x="13167360" y="8434711"/>
            <a:ext cx="1371600" cy="914400"/>
            <a:chOff x="0" y="0"/>
            <a:chExt cx="1828800" cy="1219200"/>
          </a:xfrm>
        </p:grpSpPr>
        <p:sp>
          <p:nvSpPr>
            <p:cNvPr name="Freeform 189" id="18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0" id="190"/>
          <p:cNvGrpSpPr/>
          <p:nvPr/>
        </p:nvGrpSpPr>
        <p:grpSpPr>
          <a:xfrm rot="0">
            <a:off x="13167360" y="8398993"/>
            <a:ext cx="1371600" cy="950119"/>
            <a:chOff x="0" y="0"/>
            <a:chExt cx="1828800" cy="1266825"/>
          </a:xfrm>
        </p:grpSpPr>
        <p:sp>
          <p:nvSpPr>
            <p:cNvPr name="Freeform 191" id="19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2" id="19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93" id="193"/>
          <p:cNvGrpSpPr/>
          <p:nvPr/>
        </p:nvGrpSpPr>
        <p:grpSpPr>
          <a:xfrm rot="0">
            <a:off x="14273784" y="8434711"/>
            <a:ext cx="1371600" cy="914400"/>
            <a:chOff x="0" y="0"/>
            <a:chExt cx="1828800" cy="1219200"/>
          </a:xfrm>
        </p:grpSpPr>
        <p:sp>
          <p:nvSpPr>
            <p:cNvPr name="Freeform 194" id="19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5" id="195"/>
          <p:cNvGrpSpPr/>
          <p:nvPr/>
        </p:nvGrpSpPr>
        <p:grpSpPr>
          <a:xfrm rot="0">
            <a:off x="14273784" y="8398993"/>
            <a:ext cx="1371600" cy="950119"/>
            <a:chOff x="0" y="0"/>
            <a:chExt cx="1828800" cy="1266825"/>
          </a:xfrm>
        </p:grpSpPr>
        <p:sp>
          <p:nvSpPr>
            <p:cNvPr name="Freeform 196" id="19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7" id="19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AA4444"/>
                  </a:solidFill>
                  <a:latin typeface="Calibri (MS) Bold"/>
                  <a:ea typeface="Calibri (MS) Bold"/>
                  <a:cs typeface="Calibri (MS) Bold"/>
                  <a:sym typeface="Calibri (MS) Bold"/>
                </a:rPr>
                <a:t>CANCELLED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65760"/>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37185"/>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POLICY STATUS &amp; BUSINESS RULES</a:t>
              </a:r>
            </a:p>
          </p:txBody>
        </p:sp>
      </p:grpSp>
      <p:grpSp>
        <p:nvGrpSpPr>
          <p:cNvPr name="Group 9" id="9"/>
          <p:cNvGrpSpPr/>
          <p:nvPr/>
        </p:nvGrpSpPr>
        <p:grpSpPr>
          <a:xfrm rot="0">
            <a:off x="731520" y="804672"/>
            <a:ext cx="16459200" cy="950976"/>
            <a:chOff x="0" y="0"/>
            <a:chExt cx="21945600" cy="1267968"/>
          </a:xfrm>
        </p:grpSpPr>
        <p:sp>
          <p:nvSpPr>
            <p:cNvPr name="Freeform 10" id="10"/>
            <p:cNvSpPr/>
            <p:nvPr/>
          </p:nvSpPr>
          <p:spPr>
            <a:xfrm flipH="false" flipV="false" rot="0">
              <a:off x="0" y="0"/>
              <a:ext cx="21945600" cy="1267968"/>
            </a:xfrm>
            <a:custGeom>
              <a:avLst/>
              <a:gdLst/>
              <a:ahLst/>
              <a:cxnLst/>
              <a:rect r="r" b="b" t="t" l="l"/>
              <a:pathLst>
                <a:path h="1267968" w="21945600">
                  <a:moveTo>
                    <a:pt x="0" y="0"/>
                  </a:moveTo>
                  <a:lnTo>
                    <a:pt x="21945600" y="0"/>
                  </a:lnTo>
                  <a:lnTo>
                    <a:pt x="21945600" y="1267968"/>
                  </a:lnTo>
                  <a:lnTo>
                    <a:pt x="0" y="1267968"/>
                  </a:lnTo>
                  <a:close/>
                </a:path>
              </a:pathLst>
            </a:custGeom>
            <a:blipFill>
              <a:blip r:embed="rId3">
                <a:alphaModFix amt="0"/>
              </a:blip>
              <a:stretch>
                <a:fillRect l="0" t="-287006" r="0" b="-287007"/>
              </a:stretch>
            </a:blipFill>
          </p:spPr>
        </p:sp>
      </p:grpSp>
      <p:grpSp>
        <p:nvGrpSpPr>
          <p:cNvPr name="Group 11" id="11"/>
          <p:cNvGrpSpPr/>
          <p:nvPr/>
        </p:nvGrpSpPr>
        <p:grpSpPr>
          <a:xfrm rot="0">
            <a:off x="731520" y="726091"/>
            <a:ext cx="16459200" cy="1029557"/>
            <a:chOff x="0" y="0"/>
            <a:chExt cx="21945600" cy="1372743"/>
          </a:xfrm>
        </p:grpSpPr>
        <p:sp>
          <p:nvSpPr>
            <p:cNvPr name="Freeform 12" id="12"/>
            <p:cNvSpPr/>
            <p:nvPr/>
          </p:nvSpPr>
          <p:spPr>
            <a:xfrm flipH="false" flipV="false" rot="0">
              <a:off x="0" y="0"/>
              <a:ext cx="21945600" cy="1372743"/>
            </a:xfrm>
            <a:custGeom>
              <a:avLst/>
              <a:gdLst/>
              <a:ahLst/>
              <a:cxnLst/>
              <a:rect r="r" b="b" t="t" l="l"/>
              <a:pathLst>
                <a:path h="1372743" w="21945600">
                  <a:moveTo>
                    <a:pt x="0" y="0"/>
                  </a:moveTo>
                  <a:lnTo>
                    <a:pt x="21945600" y="0"/>
                  </a:lnTo>
                  <a:lnTo>
                    <a:pt x="21945600" y="1372743"/>
                  </a:lnTo>
                  <a:lnTo>
                    <a:pt x="0" y="1372743"/>
                  </a:lnTo>
                  <a:close/>
                </a:path>
              </a:pathLst>
            </a:custGeom>
            <a:blipFill>
              <a:blip r:embed="rId4">
                <a:alphaModFix amt="0"/>
              </a:blip>
              <a:stretch>
                <a:fillRect l="0" t="-261501" r="0" b="-261501"/>
              </a:stretch>
            </a:blipFill>
          </p:spPr>
        </p:sp>
        <p:sp>
          <p:nvSpPr>
            <p:cNvPr name="TextBox 13" id="13"/>
            <p:cNvSpPr txBox="true"/>
            <p:nvPr/>
          </p:nvSpPr>
          <p:spPr>
            <a:xfrm>
              <a:off x="0" y="-104775"/>
              <a:ext cx="21945600" cy="1477518"/>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Status Definitions &amp; Flow Rules</a:t>
              </a:r>
            </a:p>
          </p:txBody>
        </p:sp>
      </p:grpSp>
      <p:sp>
        <p:nvSpPr>
          <p:cNvPr name="Freeform 14" id="14"/>
          <p:cNvSpPr/>
          <p:nvPr/>
        </p:nvSpPr>
        <p:spPr>
          <a:xfrm flipH="false" flipV="false" rot="0">
            <a:off x="53594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877824" y="2670048"/>
            <a:ext cx="822960" cy="822960"/>
            <a:chOff x="0" y="0"/>
            <a:chExt cx="1097280" cy="1097280"/>
          </a:xfrm>
        </p:grpSpPr>
        <p:sp>
          <p:nvSpPr>
            <p:cNvPr name="Freeform 16" id="16"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7"/>
              <a:stretch>
                <a:fillRect l="0" t="0" r="0" b="0"/>
              </a:stretch>
            </a:blipFill>
          </p:spPr>
        </p:sp>
      </p:grpSp>
      <p:grpSp>
        <p:nvGrpSpPr>
          <p:cNvPr name="Group 17" id="17"/>
          <p:cNvGrpSpPr/>
          <p:nvPr/>
        </p:nvGrpSpPr>
        <p:grpSpPr>
          <a:xfrm rot="0">
            <a:off x="1865376" y="2487168"/>
            <a:ext cx="3840480" cy="694944"/>
            <a:chOff x="0" y="0"/>
            <a:chExt cx="5120640" cy="926592"/>
          </a:xfrm>
        </p:grpSpPr>
        <p:sp>
          <p:nvSpPr>
            <p:cNvPr name="Freeform 18" id="18"/>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19" id="19"/>
          <p:cNvGrpSpPr/>
          <p:nvPr/>
        </p:nvGrpSpPr>
        <p:grpSpPr>
          <a:xfrm rot="0">
            <a:off x="1865376" y="2444306"/>
            <a:ext cx="3840480" cy="737806"/>
            <a:chOff x="0" y="0"/>
            <a:chExt cx="5120640" cy="983742"/>
          </a:xfrm>
        </p:grpSpPr>
        <p:sp>
          <p:nvSpPr>
            <p:cNvPr name="Freeform 20" id="20"/>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21" id="21"/>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A78BFA"/>
                  </a:solidFill>
                  <a:latin typeface="Calibri (MS) Bold"/>
                  <a:ea typeface="Calibri (MS) Bold"/>
                  <a:cs typeface="Calibri (MS) Bold"/>
                  <a:sym typeface="Calibri (MS) Bold"/>
                </a:rPr>
                <a:t>Quotation</a:t>
              </a:r>
            </a:p>
          </p:txBody>
        </p:sp>
      </p:grpSp>
      <p:grpSp>
        <p:nvGrpSpPr>
          <p:cNvPr name="Group 22" id="22"/>
          <p:cNvGrpSpPr/>
          <p:nvPr/>
        </p:nvGrpSpPr>
        <p:grpSpPr>
          <a:xfrm rot="0">
            <a:off x="804672" y="3438144"/>
            <a:ext cx="4937760" cy="1645920"/>
            <a:chOff x="0" y="0"/>
            <a:chExt cx="6583680" cy="2194560"/>
          </a:xfrm>
        </p:grpSpPr>
        <p:sp>
          <p:nvSpPr>
            <p:cNvPr name="Freeform 23" id="23"/>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24" id="24"/>
          <p:cNvGrpSpPr/>
          <p:nvPr/>
        </p:nvGrpSpPr>
        <p:grpSpPr>
          <a:xfrm rot="0">
            <a:off x="804672" y="3409569"/>
            <a:ext cx="4937760" cy="1674495"/>
            <a:chOff x="0" y="0"/>
            <a:chExt cx="6583680" cy="2232660"/>
          </a:xfrm>
        </p:grpSpPr>
        <p:sp>
          <p:nvSpPr>
            <p:cNvPr name="Freeform 25" id="25"/>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26" id="26"/>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Business offer with premium, provider/package, expiry time, and coverage terms. Starting point of the commercial flow.</a:t>
              </a:r>
            </a:p>
          </p:txBody>
        </p:sp>
      </p:grpSp>
      <p:sp>
        <p:nvSpPr>
          <p:cNvPr name="Freeform 27" id="27"/>
          <p:cNvSpPr/>
          <p:nvPr/>
        </p:nvSpPr>
        <p:spPr>
          <a:xfrm flipH="false" flipV="false" rot="0">
            <a:off x="629666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8" id="28"/>
          <p:cNvGrpSpPr/>
          <p:nvPr/>
        </p:nvGrpSpPr>
        <p:grpSpPr>
          <a:xfrm rot="0">
            <a:off x="6638544" y="2670048"/>
            <a:ext cx="822960" cy="822960"/>
            <a:chOff x="0" y="0"/>
            <a:chExt cx="1097280" cy="1097280"/>
          </a:xfrm>
        </p:grpSpPr>
        <p:sp>
          <p:nvSpPr>
            <p:cNvPr name="Freeform 29" id="29"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0"/>
              <a:stretch>
                <a:fillRect l="0" t="0" r="0" b="0"/>
              </a:stretch>
            </a:blipFill>
          </p:spPr>
        </p:sp>
      </p:grpSp>
      <p:grpSp>
        <p:nvGrpSpPr>
          <p:cNvPr name="Group 30" id="30"/>
          <p:cNvGrpSpPr/>
          <p:nvPr/>
        </p:nvGrpSpPr>
        <p:grpSpPr>
          <a:xfrm rot="0">
            <a:off x="7626096" y="2487168"/>
            <a:ext cx="3840480" cy="694944"/>
            <a:chOff x="0" y="0"/>
            <a:chExt cx="5120640" cy="926592"/>
          </a:xfrm>
        </p:grpSpPr>
        <p:sp>
          <p:nvSpPr>
            <p:cNvPr name="Freeform 31" id="31"/>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32" id="32"/>
          <p:cNvGrpSpPr/>
          <p:nvPr/>
        </p:nvGrpSpPr>
        <p:grpSpPr>
          <a:xfrm rot="0">
            <a:off x="7626096" y="2444306"/>
            <a:ext cx="3840480" cy="737806"/>
            <a:chOff x="0" y="0"/>
            <a:chExt cx="5120640" cy="983742"/>
          </a:xfrm>
        </p:grpSpPr>
        <p:sp>
          <p:nvSpPr>
            <p:cNvPr name="Freeform 33" id="33"/>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34" id="34"/>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34D399"/>
                  </a:solidFill>
                  <a:latin typeface="Calibri (MS) Bold"/>
                  <a:ea typeface="Calibri (MS) Bold"/>
                  <a:cs typeface="Calibri (MS) Bold"/>
                  <a:sym typeface="Calibri (MS) Bold"/>
                </a:rPr>
                <a:t>Issued Policy</a:t>
              </a:r>
            </a:p>
          </p:txBody>
        </p:sp>
      </p:grpSp>
      <p:grpSp>
        <p:nvGrpSpPr>
          <p:cNvPr name="Group 35" id="35"/>
          <p:cNvGrpSpPr/>
          <p:nvPr/>
        </p:nvGrpSpPr>
        <p:grpSpPr>
          <a:xfrm rot="0">
            <a:off x="6565392" y="3438144"/>
            <a:ext cx="4937760" cy="1645920"/>
            <a:chOff x="0" y="0"/>
            <a:chExt cx="6583680" cy="2194560"/>
          </a:xfrm>
        </p:grpSpPr>
        <p:sp>
          <p:nvSpPr>
            <p:cNvPr name="Freeform 36" id="36"/>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37" id="37"/>
          <p:cNvGrpSpPr/>
          <p:nvPr/>
        </p:nvGrpSpPr>
        <p:grpSpPr>
          <a:xfrm rot="0">
            <a:off x="6565392" y="3409569"/>
            <a:ext cx="4937760" cy="1674495"/>
            <a:chOff x="0" y="0"/>
            <a:chExt cx="6583680" cy="2232660"/>
          </a:xfrm>
        </p:grpSpPr>
        <p:sp>
          <p:nvSpPr>
            <p:cNvPr name="Freeform 38" id="38"/>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39" id="39"/>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Provider-created policy after customer accepts. EXISTS but not yet active — payment has not been completed.</a:t>
              </a:r>
            </a:p>
          </p:txBody>
        </p:sp>
      </p:grpSp>
      <p:sp>
        <p:nvSpPr>
          <p:cNvPr name="Freeform 40" id="40"/>
          <p:cNvSpPr/>
          <p:nvPr/>
        </p:nvSpPr>
        <p:spPr>
          <a:xfrm flipH="false" flipV="false" rot="0">
            <a:off x="1205738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1" id="41"/>
          <p:cNvGrpSpPr/>
          <p:nvPr/>
        </p:nvGrpSpPr>
        <p:grpSpPr>
          <a:xfrm rot="0">
            <a:off x="12399264" y="2670048"/>
            <a:ext cx="822960" cy="822960"/>
            <a:chOff x="0" y="0"/>
            <a:chExt cx="1097280" cy="1097280"/>
          </a:xfrm>
        </p:grpSpPr>
        <p:sp>
          <p:nvSpPr>
            <p:cNvPr name="Freeform 42" id="42"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3"/>
              <a:stretch>
                <a:fillRect l="0" t="0" r="0" b="0"/>
              </a:stretch>
            </a:blipFill>
          </p:spPr>
        </p:sp>
      </p:grpSp>
      <p:grpSp>
        <p:nvGrpSpPr>
          <p:cNvPr name="Group 43" id="43"/>
          <p:cNvGrpSpPr/>
          <p:nvPr/>
        </p:nvGrpSpPr>
        <p:grpSpPr>
          <a:xfrm rot="0">
            <a:off x="13386816" y="2487168"/>
            <a:ext cx="3840480" cy="694944"/>
            <a:chOff x="0" y="0"/>
            <a:chExt cx="5120640" cy="926592"/>
          </a:xfrm>
        </p:grpSpPr>
        <p:sp>
          <p:nvSpPr>
            <p:cNvPr name="Freeform 44" id="44"/>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45" id="45"/>
          <p:cNvGrpSpPr/>
          <p:nvPr/>
        </p:nvGrpSpPr>
        <p:grpSpPr>
          <a:xfrm rot="0">
            <a:off x="13386816" y="2444306"/>
            <a:ext cx="3840480" cy="737806"/>
            <a:chOff x="0" y="0"/>
            <a:chExt cx="5120640" cy="983742"/>
          </a:xfrm>
        </p:grpSpPr>
        <p:sp>
          <p:nvSpPr>
            <p:cNvPr name="Freeform 46" id="46"/>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47" id="47"/>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BF24"/>
                  </a:solidFill>
                  <a:latin typeface="Calibri (MS) Bold"/>
                  <a:ea typeface="Calibri (MS) Bold"/>
                  <a:cs typeface="Calibri (MS) Bold"/>
                  <a:sym typeface="Calibri (MS) Bold"/>
                </a:rPr>
                <a:t>Active Policy</a:t>
              </a:r>
            </a:p>
          </p:txBody>
        </p:sp>
      </p:grpSp>
      <p:grpSp>
        <p:nvGrpSpPr>
          <p:cNvPr name="Group 48" id="48"/>
          <p:cNvGrpSpPr/>
          <p:nvPr/>
        </p:nvGrpSpPr>
        <p:grpSpPr>
          <a:xfrm rot="0">
            <a:off x="12326112" y="3438144"/>
            <a:ext cx="4937760" cy="1645920"/>
            <a:chOff x="0" y="0"/>
            <a:chExt cx="6583680" cy="2194560"/>
          </a:xfrm>
        </p:grpSpPr>
        <p:sp>
          <p:nvSpPr>
            <p:cNvPr name="Freeform 49" id="49"/>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50" id="50"/>
          <p:cNvGrpSpPr/>
          <p:nvPr/>
        </p:nvGrpSpPr>
        <p:grpSpPr>
          <a:xfrm rot="0">
            <a:off x="12326112" y="3409569"/>
            <a:ext cx="4937760" cy="1674495"/>
            <a:chOff x="0" y="0"/>
            <a:chExt cx="6583680" cy="2232660"/>
          </a:xfrm>
        </p:grpSpPr>
        <p:sp>
          <p:nvSpPr>
            <p:cNvPr name="Freeform 51" id="51"/>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52" id="52"/>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Final effective policy after successful payment within the timebox. This is the business outcome for reporting.</a:t>
              </a:r>
            </a:p>
          </p:txBody>
        </p:sp>
      </p:grpSp>
      <p:sp>
        <p:nvSpPr>
          <p:cNvPr name="Freeform 53" id="53"/>
          <p:cNvSpPr/>
          <p:nvPr/>
        </p:nvSpPr>
        <p:spPr>
          <a:xfrm flipH="false" flipV="false" rot="0">
            <a:off x="53594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4" id="54"/>
          <p:cNvGrpSpPr/>
          <p:nvPr/>
        </p:nvGrpSpPr>
        <p:grpSpPr>
          <a:xfrm rot="0">
            <a:off x="877824" y="6236208"/>
            <a:ext cx="822960" cy="822960"/>
            <a:chOff x="0" y="0"/>
            <a:chExt cx="1097280" cy="1097280"/>
          </a:xfrm>
        </p:grpSpPr>
        <p:sp>
          <p:nvSpPr>
            <p:cNvPr name="Freeform 55" id="55"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6"/>
              <a:stretch>
                <a:fillRect l="0" t="0" r="0" b="0"/>
              </a:stretch>
            </a:blipFill>
          </p:spPr>
        </p:sp>
      </p:grpSp>
      <p:grpSp>
        <p:nvGrpSpPr>
          <p:cNvPr name="Group 56" id="56"/>
          <p:cNvGrpSpPr/>
          <p:nvPr/>
        </p:nvGrpSpPr>
        <p:grpSpPr>
          <a:xfrm rot="0">
            <a:off x="1865376" y="6053328"/>
            <a:ext cx="3840480" cy="694944"/>
            <a:chOff x="0" y="0"/>
            <a:chExt cx="5120640" cy="926592"/>
          </a:xfrm>
        </p:grpSpPr>
        <p:sp>
          <p:nvSpPr>
            <p:cNvPr name="Freeform 57" id="57"/>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58" id="58"/>
          <p:cNvGrpSpPr/>
          <p:nvPr/>
        </p:nvGrpSpPr>
        <p:grpSpPr>
          <a:xfrm rot="0">
            <a:off x="1865376" y="6010466"/>
            <a:ext cx="3840480" cy="737806"/>
            <a:chOff x="0" y="0"/>
            <a:chExt cx="5120640" cy="983742"/>
          </a:xfrm>
        </p:grpSpPr>
        <p:sp>
          <p:nvSpPr>
            <p:cNvPr name="Freeform 59" id="59"/>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60" id="60"/>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87171"/>
                  </a:solidFill>
                  <a:latin typeface="Calibri (MS) Bold"/>
                  <a:ea typeface="Calibri (MS) Bold"/>
                  <a:cs typeface="Calibri (MS) Bold"/>
                  <a:sym typeface="Calibri (MS) Bold"/>
                </a:rPr>
                <a:t>Timebox</a:t>
              </a:r>
            </a:p>
          </p:txBody>
        </p:sp>
      </p:grpSp>
      <p:grpSp>
        <p:nvGrpSpPr>
          <p:cNvPr name="Group 61" id="61"/>
          <p:cNvGrpSpPr/>
          <p:nvPr/>
        </p:nvGrpSpPr>
        <p:grpSpPr>
          <a:xfrm rot="0">
            <a:off x="804672" y="7004304"/>
            <a:ext cx="4937760" cy="1645920"/>
            <a:chOff x="0" y="0"/>
            <a:chExt cx="6583680" cy="2194560"/>
          </a:xfrm>
        </p:grpSpPr>
        <p:sp>
          <p:nvSpPr>
            <p:cNvPr name="Freeform 62" id="62"/>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63" id="63"/>
          <p:cNvGrpSpPr/>
          <p:nvPr/>
        </p:nvGrpSpPr>
        <p:grpSpPr>
          <a:xfrm rot="0">
            <a:off x="804672" y="6975729"/>
            <a:ext cx="4937760" cy="1674495"/>
            <a:chOff x="0" y="0"/>
            <a:chExt cx="6583680" cy="2232660"/>
          </a:xfrm>
        </p:grpSpPr>
        <p:sp>
          <p:nvSpPr>
            <p:cNvPr name="Freeform 64" id="64"/>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65" id="65"/>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Allowed period after the issued policy is sent to the customer. Within this window, the customer must pay, cancel, or take no action. No action = policy EXPIRES automatically without activation.</a:t>
              </a:r>
            </a:p>
          </p:txBody>
        </p:sp>
      </p:grpSp>
      <p:sp>
        <p:nvSpPr>
          <p:cNvPr name="Freeform 66" id="66"/>
          <p:cNvSpPr/>
          <p:nvPr/>
        </p:nvSpPr>
        <p:spPr>
          <a:xfrm flipH="false" flipV="false" rot="0">
            <a:off x="629666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7" id="67"/>
          <p:cNvGrpSpPr/>
          <p:nvPr/>
        </p:nvGrpSpPr>
        <p:grpSpPr>
          <a:xfrm rot="0">
            <a:off x="6638544" y="6236208"/>
            <a:ext cx="822960" cy="822960"/>
            <a:chOff x="0" y="0"/>
            <a:chExt cx="1097280" cy="1097280"/>
          </a:xfrm>
        </p:grpSpPr>
        <p:sp>
          <p:nvSpPr>
            <p:cNvPr name="Freeform 68" id="68"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9"/>
              <a:stretch>
                <a:fillRect l="0" t="0" r="0" b="0"/>
              </a:stretch>
            </a:blipFill>
          </p:spPr>
        </p:sp>
      </p:grpSp>
      <p:grpSp>
        <p:nvGrpSpPr>
          <p:cNvPr name="Group 69" id="69"/>
          <p:cNvGrpSpPr/>
          <p:nvPr/>
        </p:nvGrpSpPr>
        <p:grpSpPr>
          <a:xfrm rot="0">
            <a:off x="7626096" y="6053328"/>
            <a:ext cx="3840480" cy="694944"/>
            <a:chOff x="0" y="0"/>
            <a:chExt cx="5120640" cy="926592"/>
          </a:xfrm>
        </p:grpSpPr>
        <p:sp>
          <p:nvSpPr>
            <p:cNvPr name="Freeform 70" id="70"/>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71" id="71"/>
          <p:cNvGrpSpPr/>
          <p:nvPr/>
        </p:nvGrpSpPr>
        <p:grpSpPr>
          <a:xfrm rot="0">
            <a:off x="7626096" y="6010466"/>
            <a:ext cx="3840480" cy="737806"/>
            <a:chOff x="0" y="0"/>
            <a:chExt cx="5120640" cy="983742"/>
          </a:xfrm>
        </p:grpSpPr>
        <p:sp>
          <p:nvSpPr>
            <p:cNvPr name="Freeform 72" id="72"/>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73" id="73"/>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923C"/>
                  </a:solidFill>
                  <a:latin typeface="Calibri (MS) Bold"/>
                  <a:ea typeface="Calibri (MS) Bold"/>
                  <a:cs typeface="Calibri (MS) Bold"/>
                  <a:sym typeface="Calibri (MS) Bold"/>
                </a:rPr>
                <a:t>Cancellation</a:t>
              </a:r>
            </a:p>
          </p:txBody>
        </p:sp>
      </p:grpSp>
      <p:grpSp>
        <p:nvGrpSpPr>
          <p:cNvPr name="Group 74" id="74"/>
          <p:cNvGrpSpPr/>
          <p:nvPr/>
        </p:nvGrpSpPr>
        <p:grpSpPr>
          <a:xfrm rot="0">
            <a:off x="6565392" y="7004304"/>
            <a:ext cx="4937760" cy="1645920"/>
            <a:chOff x="0" y="0"/>
            <a:chExt cx="6583680" cy="2194560"/>
          </a:xfrm>
        </p:grpSpPr>
        <p:sp>
          <p:nvSpPr>
            <p:cNvPr name="Freeform 75" id="75"/>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76" id="76"/>
          <p:cNvGrpSpPr/>
          <p:nvPr/>
        </p:nvGrpSpPr>
        <p:grpSpPr>
          <a:xfrm rot="0">
            <a:off x="6565392" y="6975729"/>
            <a:ext cx="4937760" cy="1674495"/>
            <a:chOff x="0" y="0"/>
            <a:chExt cx="6583680" cy="2232660"/>
          </a:xfrm>
        </p:grpSpPr>
        <p:sp>
          <p:nvSpPr>
            <p:cNvPr name="Freeform 77" id="77"/>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78" id="78"/>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Active cancel: customer cancels the issued policy before payment → CANCELLED. Timebox expires without action → EXPIRED. Both end the flow without activation.</a:t>
              </a:r>
            </a:p>
          </p:txBody>
        </p:sp>
      </p:grpSp>
      <p:sp>
        <p:nvSpPr>
          <p:cNvPr name="Freeform 79" id="79"/>
          <p:cNvSpPr/>
          <p:nvPr/>
        </p:nvSpPr>
        <p:spPr>
          <a:xfrm flipH="false" flipV="false" rot="0">
            <a:off x="1205738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80" id="80"/>
          <p:cNvGrpSpPr/>
          <p:nvPr/>
        </p:nvGrpSpPr>
        <p:grpSpPr>
          <a:xfrm rot="0">
            <a:off x="12399264" y="6236208"/>
            <a:ext cx="822960" cy="822960"/>
            <a:chOff x="0" y="0"/>
            <a:chExt cx="1097280" cy="1097280"/>
          </a:xfrm>
        </p:grpSpPr>
        <p:sp>
          <p:nvSpPr>
            <p:cNvPr name="Freeform 81" id="81"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22"/>
              <a:stretch>
                <a:fillRect l="0" t="0" r="0" b="0"/>
              </a:stretch>
            </a:blipFill>
          </p:spPr>
        </p:sp>
      </p:grpSp>
      <p:grpSp>
        <p:nvGrpSpPr>
          <p:cNvPr name="Group 82" id="82"/>
          <p:cNvGrpSpPr/>
          <p:nvPr/>
        </p:nvGrpSpPr>
        <p:grpSpPr>
          <a:xfrm rot="0">
            <a:off x="13386816" y="6053328"/>
            <a:ext cx="3840480" cy="694944"/>
            <a:chOff x="0" y="0"/>
            <a:chExt cx="5120640" cy="926592"/>
          </a:xfrm>
        </p:grpSpPr>
        <p:sp>
          <p:nvSpPr>
            <p:cNvPr name="Freeform 83" id="83"/>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84" id="84"/>
          <p:cNvGrpSpPr/>
          <p:nvPr/>
        </p:nvGrpSpPr>
        <p:grpSpPr>
          <a:xfrm rot="0">
            <a:off x="13386816" y="6010466"/>
            <a:ext cx="3840480" cy="737806"/>
            <a:chOff x="0" y="0"/>
            <a:chExt cx="5120640" cy="983742"/>
          </a:xfrm>
        </p:grpSpPr>
        <p:sp>
          <p:nvSpPr>
            <p:cNvPr name="Freeform 85" id="85"/>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86" id="86"/>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60A5FA"/>
                  </a:solidFill>
                  <a:latin typeface="Calibri (MS) Bold"/>
                  <a:ea typeface="Calibri (MS) Bold"/>
                  <a:cs typeface="Calibri (MS) Bold"/>
                  <a:sym typeface="Calibri (MS) Bold"/>
                </a:rPr>
                <a:t>Payment</a:t>
              </a:r>
            </a:p>
          </p:txBody>
        </p:sp>
      </p:grpSp>
      <p:grpSp>
        <p:nvGrpSpPr>
          <p:cNvPr name="Group 87" id="87"/>
          <p:cNvGrpSpPr/>
          <p:nvPr/>
        </p:nvGrpSpPr>
        <p:grpSpPr>
          <a:xfrm rot="0">
            <a:off x="12326112" y="7004304"/>
            <a:ext cx="4937760" cy="1645920"/>
            <a:chOff x="0" y="0"/>
            <a:chExt cx="6583680" cy="2194560"/>
          </a:xfrm>
        </p:grpSpPr>
        <p:sp>
          <p:nvSpPr>
            <p:cNvPr name="Freeform 88" id="88"/>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89" id="89"/>
          <p:cNvGrpSpPr/>
          <p:nvPr/>
        </p:nvGrpSpPr>
        <p:grpSpPr>
          <a:xfrm rot="0">
            <a:off x="12326112" y="6975729"/>
            <a:ext cx="4937760" cy="1674495"/>
            <a:chOff x="0" y="0"/>
            <a:chExt cx="6583680" cy="2232660"/>
          </a:xfrm>
        </p:grpSpPr>
        <p:sp>
          <p:nvSpPr>
            <p:cNvPr name="Freeform 90" id="90"/>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91" id="91"/>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Completed within timebox = ACTIVE policy. Not completed before timebox expires = flow ends without activation.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00609"/>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DATA ARCHITECTURE</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Source Data Mapping</a:t>
              </a:r>
            </a:p>
          </p:txBody>
        </p:sp>
      </p:grpSp>
      <p:sp>
        <p:nvSpPr>
          <p:cNvPr name="Freeform 14" id="14"/>
          <p:cNvSpPr/>
          <p:nvPr/>
        </p:nvSpPr>
        <p:spPr>
          <a:xfrm flipH="false" flipV="false" rot="0">
            <a:off x="52959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53594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0" cy="877824"/>
            <a:chOff x="0" y="0"/>
            <a:chExt cx="10972800" cy="1170432"/>
          </a:xfrm>
        </p:grpSpPr>
        <p:sp>
          <p:nvSpPr>
            <p:cNvPr name="Freeform 17" id="17"/>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18" id="18"/>
          <p:cNvGrpSpPr/>
          <p:nvPr/>
        </p:nvGrpSpPr>
        <p:grpSpPr>
          <a:xfrm rot="0">
            <a:off x="548640" y="1968817"/>
            <a:ext cx="8229600" cy="920686"/>
            <a:chOff x="0" y="0"/>
            <a:chExt cx="10972800" cy="1227582"/>
          </a:xfrm>
        </p:grpSpPr>
        <p:sp>
          <p:nvSpPr>
            <p:cNvPr name="Freeform 19" id="19"/>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20" id="20"/>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CRM / Quotation Domain</a:t>
              </a:r>
            </a:p>
          </p:txBody>
        </p:sp>
      </p:grpSp>
      <p:sp>
        <p:nvSpPr>
          <p:cNvPr name="Freeform 21" id="21"/>
          <p:cNvSpPr/>
          <p:nvPr/>
        </p:nvSpPr>
        <p:spPr>
          <a:xfrm flipH="false" flipV="false" rot="0">
            <a:off x="865127" y="3132839"/>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877824" y="3145536"/>
            <a:ext cx="2706624" cy="603504"/>
            <a:chOff x="0" y="0"/>
            <a:chExt cx="3608832" cy="804672"/>
          </a:xfrm>
        </p:grpSpPr>
        <p:sp>
          <p:nvSpPr>
            <p:cNvPr name="Freeform 23" id="23"/>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24" id="24"/>
          <p:cNvGrpSpPr/>
          <p:nvPr/>
        </p:nvGrpSpPr>
        <p:grpSpPr>
          <a:xfrm rot="0">
            <a:off x="877824" y="3116961"/>
            <a:ext cx="2706624" cy="632079"/>
            <a:chOff x="0" y="0"/>
            <a:chExt cx="3608832" cy="842772"/>
          </a:xfrm>
        </p:grpSpPr>
        <p:sp>
          <p:nvSpPr>
            <p:cNvPr name="Freeform 25" id="25"/>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26" id="26"/>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customers</a:t>
              </a:r>
            </a:p>
          </p:txBody>
        </p:sp>
      </p:grpSp>
      <p:sp>
        <p:nvSpPr>
          <p:cNvPr name="Freeform 27" id="27"/>
          <p:cNvSpPr/>
          <p:nvPr/>
        </p:nvSpPr>
        <p:spPr>
          <a:xfrm flipH="false" flipV="false" rot="0">
            <a:off x="3791207"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3803904" y="3145536"/>
            <a:ext cx="2267712" cy="603504"/>
            <a:chOff x="0" y="0"/>
            <a:chExt cx="3023616" cy="804672"/>
          </a:xfrm>
        </p:grpSpPr>
        <p:sp>
          <p:nvSpPr>
            <p:cNvPr name="Freeform 29" id="29"/>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30" id="30"/>
          <p:cNvGrpSpPr/>
          <p:nvPr/>
        </p:nvGrpSpPr>
        <p:grpSpPr>
          <a:xfrm rot="0">
            <a:off x="3803904" y="3116961"/>
            <a:ext cx="2267712" cy="632079"/>
            <a:chOff x="0" y="0"/>
            <a:chExt cx="3023616" cy="842772"/>
          </a:xfrm>
        </p:grpSpPr>
        <p:sp>
          <p:nvSpPr>
            <p:cNvPr name="Freeform 31" id="31"/>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32" id="32"/>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vehicle</a:t>
              </a:r>
            </a:p>
          </p:txBody>
        </p:sp>
      </p:grpSp>
      <p:sp>
        <p:nvSpPr>
          <p:cNvPr name="Freeform 33" id="33"/>
          <p:cNvSpPr/>
          <p:nvPr/>
        </p:nvSpPr>
        <p:spPr>
          <a:xfrm flipH="false" flipV="false" rot="0">
            <a:off x="6278375" y="3132839"/>
            <a:ext cx="2073688" cy="628840"/>
          </a:xfrm>
          <a:custGeom>
            <a:avLst/>
            <a:gdLst/>
            <a:ahLst/>
            <a:cxnLst/>
            <a:rect r="r" b="b" t="t" l="l"/>
            <a:pathLst>
              <a:path h="628840" w="2073688">
                <a:moveTo>
                  <a:pt x="0" y="0"/>
                </a:moveTo>
                <a:lnTo>
                  <a:pt x="2073688" y="0"/>
                </a:lnTo>
                <a:lnTo>
                  <a:pt x="2073688" y="628841"/>
                </a:lnTo>
                <a:lnTo>
                  <a:pt x="0" y="6288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4" id="34"/>
          <p:cNvGrpSpPr/>
          <p:nvPr/>
        </p:nvGrpSpPr>
        <p:grpSpPr>
          <a:xfrm rot="0">
            <a:off x="6291072" y="3145536"/>
            <a:ext cx="2048256" cy="603504"/>
            <a:chOff x="0" y="0"/>
            <a:chExt cx="2731008" cy="804672"/>
          </a:xfrm>
        </p:grpSpPr>
        <p:sp>
          <p:nvSpPr>
            <p:cNvPr name="Freeform 35" id="35"/>
            <p:cNvSpPr/>
            <p:nvPr/>
          </p:nvSpPr>
          <p:spPr>
            <a:xfrm flipH="false" flipV="false" rot="0">
              <a:off x="0" y="0"/>
              <a:ext cx="2731008" cy="804672"/>
            </a:xfrm>
            <a:custGeom>
              <a:avLst/>
              <a:gdLst/>
              <a:ahLst/>
              <a:cxnLst/>
              <a:rect r="r" b="b" t="t" l="l"/>
              <a:pathLst>
                <a:path h="804672" w="2731008">
                  <a:moveTo>
                    <a:pt x="0" y="0"/>
                  </a:moveTo>
                  <a:lnTo>
                    <a:pt x="2731008" y="0"/>
                  </a:lnTo>
                  <a:lnTo>
                    <a:pt x="2731008" y="804672"/>
                  </a:lnTo>
                  <a:lnTo>
                    <a:pt x="0" y="804672"/>
                  </a:lnTo>
                  <a:close/>
                </a:path>
              </a:pathLst>
            </a:custGeom>
            <a:blipFill>
              <a:blip r:embed="rId3">
                <a:alphaModFix amt="0"/>
              </a:blip>
              <a:stretch>
                <a:fillRect l="0" t="-16084" r="0" b="-16085"/>
              </a:stretch>
            </a:blipFill>
          </p:spPr>
        </p:sp>
      </p:grpSp>
      <p:grpSp>
        <p:nvGrpSpPr>
          <p:cNvPr name="Group 36" id="36"/>
          <p:cNvGrpSpPr/>
          <p:nvPr/>
        </p:nvGrpSpPr>
        <p:grpSpPr>
          <a:xfrm rot="0">
            <a:off x="6291072" y="3116961"/>
            <a:ext cx="2048256" cy="632079"/>
            <a:chOff x="0" y="0"/>
            <a:chExt cx="2731008" cy="842772"/>
          </a:xfrm>
        </p:grpSpPr>
        <p:sp>
          <p:nvSpPr>
            <p:cNvPr name="Freeform 37" id="37"/>
            <p:cNvSpPr/>
            <p:nvPr/>
          </p:nvSpPr>
          <p:spPr>
            <a:xfrm flipH="false" flipV="false" rot="0">
              <a:off x="0" y="0"/>
              <a:ext cx="2731008" cy="842772"/>
            </a:xfrm>
            <a:custGeom>
              <a:avLst/>
              <a:gdLst/>
              <a:ahLst/>
              <a:cxnLst/>
              <a:rect r="r" b="b" t="t" l="l"/>
              <a:pathLst>
                <a:path h="842772" w="2731008">
                  <a:moveTo>
                    <a:pt x="0" y="0"/>
                  </a:moveTo>
                  <a:lnTo>
                    <a:pt x="2731008" y="0"/>
                  </a:lnTo>
                  <a:lnTo>
                    <a:pt x="2731008" y="842772"/>
                  </a:lnTo>
                  <a:lnTo>
                    <a:pt x="0" y="842772"/>
                  </a:lnTo>
                  <a:close/>
                </a:path>
              </a:pathLst>
            </a:custGeom>
            <a:blipFill>
              <a:blip r:embed="rId4">
                <a:alphaModFix amt="0"/>
              </a:blip>
              <a:stretch>
                <a:fillRect l="0" t="-13141" r="0" b="-13141"/>
              </a:stretch>
            </a:blipFill>
          </p:spPr>
        </p:sp>
        <p:sp>
          <p:nvSpPr>
            <p:cNvPr name="TextBox 38" id="38"/>
            <p:cNvSpPr txBox="true"/>
            <p:nvPr/>
          </p:nvSpPr>
          <p:spPr>
            <a:xfrm>
              <a:off x="0" y="-38100"/>
              <a:ext cx="2731008"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agents</a:t>
              </a:r>
            </a:p>
          </p:txBody>
        </p:sp>
      </p:grpSp>
      <p:sp>
        <p:nvSpPr>
          <p:cNvPr name="Freeform 39" id="39"/>
          <p:cNvSpPr/>
          <p:nvPr/>
        </p:nvSpPr>
        <p:spPr>
          <a:xfrm flipH="false" flipV="false" rot="0">
            <a:off x="86512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0" id="40"/>
          <p:cNvGrpSpPr/>
          <p:nvPr/>
        </p:nvGrpSpPr>
        <p:grpSpPr>
          <a:xfrm rot="0">
            <a:off x="877824" y="3913632"/>
            <a:ext cx="3291840" cy="603504"/>
            <a:chOff x="0" y="0"/>
            <a:chExt cx="4389120" cy="804672"/>
          </a:xfrm>
        </p:grpSpPr>
        <p:sp>
          <p:nvSpPr>
            <p:cNvPr name="Freeform 41" id="41"/>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42" id="42"/>
          <p:cNvGrpSpPr/>
          <p:nvPr/>
        </p:nvGrpSpPr>
        <p:grpSpPr>
          <a:xfrm rot="0">
            <a:off x="877824" y="3885057"/>
            <a:ext cx="3291840" cy="632079"/>
            <a:chOff x="0" y="0"/>
            <a:chExt cx="4389120" cy="842772"/>
          </a:xfrm>
        </p:grpSpPr>
        <p:sp>
          <p:nvSpPr>
            <p:cNvPr name="Freeform 43" id="43"/>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44" id="44"/>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insurance_providers</a:t>
              </a:r>
            </a:p>
          </p:txBody>
        </p:sp>
      </p:grpSp>
      <p:sp>
        <p:nvSpPr>
          <p:cNvPr name="Freeform 45" id="45"/>
          <p:cNvSpPr/>
          <p:nvPr/>
        </p:nvSpPr>
        <p:spPr>
          <a:xfrm flipH="false" flipV="false" rot="0">
            <a:off x="4376423" y="3900935"/>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6" id="46"/>
          <p:cNvGrpSpPr/>
          <p:nvPr/>
        </p:nvGrpSpPr>
        <p:grpSpPr>
          <a:xfrm rot="0">
            <a:off x="4389120" y="3913632"/>
            <a:ext cx="2706624" cy="603504"/>
            <a:chOff x="0" y="0"/>
            <a:chExt cx="3608832" cy="804672"/>
          </a:xfrm>
        </p:grpSpPr>
        <p:sp>
          <p:nvSpPr>
            <p:cNvPr name="Freeform 47" id="47"/>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48" id="48"/>
          <p:cNvGrpSpPr/>
          <p:nvPr/>
        </p:nvGrpSpPr>
        <p:grpSpPr>
          <a:xfrm rot="0">
            <a:off x="4389120" y="3885057"/>
            <a:ext cx="2706624" cy="632079"/>
            <a:chOff x="0" y="0"/>
            <a:chExt cx="3608832" cy="842772"/>
          </a:xfrm>
        </p:grpSpPr>
        <p:sp>
          <p:nvSpPr>
            <p:cNvPr name="Freeform 49" id="49"/>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50" id="50"/>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a:t>
              </a:r>
            </a:p>
          </p:txBody>
        </p:sp>
      </p:grpSp>
      <p:sp>
        <p:nvSpPr>
          <p:cNvPr name="Freeform 51" id="51"/>
          <p:cNvSpPr/>
          <p:nvPr/>
        </p:nvSpPr>
        <p:spPr>
          <a:xfrm flipH="false" flipV="false" rot="0">
            <a:off x="865127" y="4669031"/>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2" id="52"/>
          <p:cNvGrpSpPr/>
          <p:nvPr/>
        </p:nvGrpSpPr>
        <p:grpSpPr>
          <a:xfrm rot="0">
            <a:off x="877824" y="4681728"/>
            <a:ext cx="3291840" cy="603504"/>
            <a:chOff x="0" y="0"/>
            <a:chExt cx="4389120" cy="804672"/>
          </a:xfrm>
        </p:grpSpPr>
        <p:sp>
          <p:nvSpPr>
            <p:cNvPr name="Freeform 53" id="53"/>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54" id="54"/>
          <p:cNvGrpSpPr/>
          <p:nvPr/>
        </p:nvGrpSpPr>
        <p:grpSpPr>
          <a:xfrm rot="0">
            <a:off x="877824" y="4653153"/>
            <a:ext cx="3291840" cy="632079"/>
            <a:chOff x="0" y="0"/>
            <a:chExt cx="4389120" cy="842772"/>
          </a:xfrm>
        </p:grpSpPr>
        <p:sp>
          <p:nvSpPr>
            <p:cNvPr name="Freeform 55" id="55"/>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56" id="56"/>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quotation_item</a:t>
              </a:r>
            </a:p>
          </p:txBody>
        </p:sp>
      </p:grpSp>
      <p:sp>
        <p:nvSpPr>
          <p:cNvPr name="Freeform 57" id="57"/>
          <p:cNvSpPr/>
          <p:nvPr/>
        </p:nvSpPr>
        <p:spPr>
          <a:xfrm flipH="false" flipV="false" rot="0">
            <a:off x="81660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8" id="58"/>
          <p:cNvGrpSpPr/>
          <p:nvPr/>
        </p:nvGrpSpPr>
        <p:grpSpPr>
          <a:xfrm rot="0">
            <a:off x="914400" y="6620256"/>
            <a:ext cx="7498080" cy="841248"/>
            <a:chOff x="0" y="0"/>
            <a:chExt cx="9997440" cy="1121664"/>
          </a:xfrm>
        </p:grpSpPr>
        <p:sp>
          <p:nvSpPr>
            <p:cNvPr name="Freeform 59" id="59"/>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60" id="60"/>
          <p:cNvGrpSpPr/>
          <p:nvPr/>
        </p:nvGrpSpPr>
        <p:grpSpPr>
          <a:xfrm rot="0">
            <a:off x="914400" y="6591681"/>
            <a:ext cx="7498080" cy="869823"/>
            <a:chOff x="0" y="0"/>
            <a:chExt cx="9997440" cy="1159764"/>
          </a:xfrm>
        </p:grpSpPr>
        <p:sp>
          <p:nvSpPr>
            <p:cNvPr name="Freeform 61" id="61"/>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62" id="62"/>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Customer &amp; vehicle data, agent ownership, provider/package offer, coverage details</a:t>
              </a:r>
            </a:p>
          </p:txBody>
        </p:sp>
      </p:grpSp>
      <p:sp>
        <p:nvSpPr>
          <p:cNvPr name="Freeform 63" id="63"/>
          <p:cNvSpPr/>
          <p:nvPr/>
        </p:nvSpPr>
        <p:spPr>
          <a:xfrm flipH="false" flipV="false" rot="0">
            <a:off x="939927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4" id="64"/>
          <p:cNvSpPr/>
          <p:nvPr/>
        </p:nvSpPr>
        <p:spPr>
          <a:xfrm flipH="false" flipV="false" rot="0">
            <a:off x="940562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65" id="65"/>
          <p:cNvGrpSpPr/>
          <p:nvPr/>
        </p:nvGrpSpPr>
        <p:grpSpPr>
          <a:xfrm rot="0">
            <a:off x="9418320" y="2011680"/>
            <a:ext cx="8229600" cy="877824"/>
            <a:chOff x="0" y="0"/>
            <a:chExt cx="10972800" cy="1170432"/>
          </a:xfrm>
        </p:grpSpPr>
        <p:sp>
          <p:nvSpPr>
            <p:cNvPr name="Freeform 66" id="66"/>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67" id="67"/>
          <p:cNvGrpSpPr/>
          <p:nvPr/>
        </p:nvGrpSpPr>
        <p:grpSpPr>
          <a:xfrm rot="0">
            <a:off x="9418320" y="1968817"/>
            <a:ext cx="8229600" cy="920686"/>
            <a:chOff x="0" y="0"/>
            <a:chExt cx="10972800" cy="1227582"/>
          </a:xfrm>
        </p:grpSpPr>
        <p:sp>
          <p:nvSpPr>
            <p:cNvPr name="Freeform 68" id="68"/>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69" id="69"/>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Policy / Payment Domain</a:t>
              </a:r>
            </a:p>
          </p:txBody>
        </p:sp>
      </p:grpSp>
      <p:sp>
        <p:nvSpPr>
          <p:cNvPr name="Freeform 70" id="70"/>
          <p:cNvSpPr/>
          <p:nvPr/>
        </p:nvSpPr>
        <p:spPr>
          <a:xfrm flipH="false" flipV="false" rot="0">
            <a:off x="9734807" y="3132839"/>
            <a:ext cx="3170872" cy="628840"/>
          </a:xfrm>
          <a:custGeom>
            <a:avLst/>
            <a:gdLst/>
            <a:ahLst/>
            <a:cxnLst/>
            <a:rect r="r" b="b" t="t" l="l"/>
            <a:pathLst>
              <a:path h="628840" w="3170872">
                <a:moveTo>
                  <a:pt x="0" y="0"/>
                </a:moveTo>
                <a:lnTo>
                  <a:pt x="3170873" y="0"/>
                </a:lnTo>
                <a:lnTo>
                  <a:pt x="3170873" y="628841"/>
                </a:lnTo>
                <a:lnTo>
                  <a:pt x="0" y="6288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1" id="71"/>
          <p:cNvGrpSpPr/>
          <p:nvPr/>
        </p:nvGrpSpPr>
        <p:grpSpPr>
          <a:xfrm rot="0">
            <a:off x="9747504" y="3145536"/>
            <a:ext cx="3145536" cy="603504"/>
            <a:chOff x="0" y="0"/>
            <a:chExt cx="4194048" cy="804672"/>
          </a:xfrm>
        </p:grpSpPr>
        <p:sp>
          <p:nvSpPr>
            <p:cNvPr name="Freeform 72" id="72"/>
            <p:cNvSpPr/>
            <p:nvPr/>
          </p:nvSpPr>
          <p:spPr>
            <a:xfrm flipH="false" flipV="false" rot="0">
              <a:off x="0" y="0"/>
              <a:ext cx="4194048" cy="804672"/>
            </a:xfrm>
            <a:custGeom>
              <a:avLst/>
              <a:gdLst/>
              <a:ahLst/>
              <a:cxnLst/>
              <a:rect r="r" b="b" t="t" l="l"/>
              <a:pathLst>
                <a:path h="804672" w="4194048">
                  <a:moveTo>
                    <a:pt x="0" y="0"/>
                  </a:moveTo>
                  <a:lnTo>
                    <a:pt x="4194048" y="0"/>
                  </a:lnTo>
                  <a:lnTo>
                    <a:pt x="4194048" y="804672"/>
                  </a:lnTo>
                  <a:lnTo>
                    <a:pt x="0" y="804672"/>
                  </a:lnTo>
                  <a:close/>
                </a:path>
              </a:pathLst>
            </a:custGeom>
            <a:blipFill>
              <a:blip r:embed="rId3">
                <a:alphaModFix amt="0"/>
              </a:blip>
              <a:stretch>
                <a:fillRect l="0" t="-51488" r="0" b="-51486"/>
              </a:stretch>
            </a:blipFill>
          </p:spPr>
        </p:sp>
      </p:grpSp>
      <p:grpSp>
        <p:nvGrpSpPr>
          <p:cNvPr name="Group 73" id="73"/>
          <p:cNvGrpSpPr/>
          <p:nvPr/>
        </p:nvGrpSpPr>
        <p:grpSpPr>
          <a:xfrm rot="0">
            <a:off x="9747504" y="3116961"/>
            <a:ext cx="3145536" cy="632079"/>
            <a:chOff x="0" y="0"/>
            <a:chExt cx="4194048" cy="842772"/>
          </a:xfrm>
        </p:grpSpPr>
        <p:sp>
          <p:nvSpPr>
            <p:cNvPr name="Freeform 74" id="74"/>
            <p:cNvSpPr/>
            <p:nvPr/>
          </p:nvSpPr>
          <p:spPr>
            <a:xfrm flipH="false" flipV="false" rot="0">
              <a:off x="0" y="0"/>
              <a:ext cx="4194048" cy="842772"/>
            </a:xfrm>
            <a:custGeom>
              <a:avLst/>
              <a:gdLst/>
              <a:ahLst/>
              <a:cxnLst/>
              <a:rect r="r" b="b" t="t" l="l"/>
              <a:pathLst>
                <a:path h="842772" w="4194048">
                  <a:moveTo>
                    <a:pt x="0" y="0"/>
                  </a:moveTo>
                  <a:lnTo>
                    <a:pt x="4194048" y="0"/>
                  </a:lnTo>
                  <a:lnTo>
                    <a:pt x="4194048" y="842772"/>
                  </a:lnTo>
                  <a:lnTo>
                    <a:pt x="0" y="842772"/>
                  </a:lnTo>
                  <a:close/>
                </a:path>
              </a:pathLst>
            </a:custGeom>
            <a:blipFill>
              <a:blip r:embed="rId4">
                <a:alphaModFix amt="0"/>
              </a:blip>
              <a:stretch>
                <a:fillRect l="0" t="-46967" r="0" b="-46967"/>
              </a:stretch>
            </a:blipFill>
          </p:spPr>
        </p:sp>
        <p:sp>
          <p:nvSpPr>
            <p:cNvPr name="TextBox 75" id="75"/>
            <p:cNvSpPr txBox="true"/>
            <p:nvPr/>
          </p:nvSpPr>
          <p:spPr>
            <a:xfrm>
              <a:off x="0" y="-38100"/>
              <a:ext cx="4194048"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policy_info</a:t>
              </a:r>
            </a:p>
          </p:txBody>
        </p:sp>
      </p:grpSp>
      <p:sp>
        <p:nvSpPr>
          <p:cNvPr name="Freeform 76" id="76"/>
          <p:cNvSpPr/>
          <p:nvPr/>
        </p:nvSpPr>
        <p:spPr>
          <a:xfrm flipH="false" flipV="false" rot="0">
            <a:off x="13099799"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77" id="77"/>
          <p:cNvGrpSpPr/>
          <p:nvPr/>
        </p:nvGrpSpPr>
        <p:grpSpPr>
          <a:xfrm rot="0">
            <a:off x="13112496" y="3145536"/>
            <a:ext cx="2267712" cy="603504"/>
            <a:chOff x="0" y="0"/>
            <a:chExt cx="3023616" cy="804672"/>
          </a:xfrm>
        </p:grpSpPr>
        <p:sp>
          <p:nvSpPr>
            <p:cNvPr name="Freeform 78" id="78"/>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79" id="79"/>
          <p:cNvGrpSpPr/>
          <p:nvPr/>
        </p:nvGrpSpPr>
        <p:grpSpPr>
          <a:xfrm rot="0">
            <a:off x="13112496" y="3116961"/>
            <a:ext cx="2267712" cy="632079"/>
            <a:chOff x="0" y="0"/>
            <a:chExt cx="3023616" cy="842772"/>
          </a:xfrm>
        </p:grpSpPr>
        <p:sp>
          <p:nvSpPr>
            <p:cNvPr name="Freeform 80" id="80"/>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81" id="81"/>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payment</a:t>
              </a:r>
            </a:p>
          </p:txBody>
        </p:sp>
      </p:grpSp>
      <p:sp>
        <p:nvSpPr>
          <p:cNvPr name="Freeform 82" id="82"/>
          <p:cNvSpPr/>
          <p:nvPr/>
        </p:nvSpPr>
        <p:spPr>
          <a:xfrm flipH="false" flipV="false" rot="0">
            <a:off x="973480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83" id="83"/>
          <p:cNvGrpSpPr/>
          <p:nvPr/>
        </p:nvGrpSpPr>
        <p:grpSpPr>
          <a:xfrm rot="0">
            <a:off x="9747504" y="3913632"/>
            <a:ext cx="3291840" cy="603504"/>
            <a:chOff x="0" y="0"/>
            <a:chExt cx="4389120" cy="804672"/>
          </a:xfrm>
        </p:grpSpPr>
        <p:sp>
          <p:nvSpPr>
            <p:cNvPr name="Freeform 84" id="84"/>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85" id="85"/>
          <p:cNvGrpSpPr/>
          <p:nvPr/>
        </p:nvGrpSpPr>
        <p:grpSpPr>
          <a:xfrm rot="0">
            <a:off x="9747504" y="3885057"/>
            <a:ext cx="3291840" cy="632079"/>
            <a:chOff x="0" y="0"/>
            <a:chExt cx="4389120" cy="842772"/>
          </a:xfrm>
        </p:grpSpPr>
        <p:sp>
          <p:nvSpPr>
            <p:cNvPr name="Freeform 86" id="86"/>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87" id="87"/>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cancellation</a:t>
              </a:r>
            </a:p>
          </p:txBody>
        </p:sp>
      </p:grpSp>
      <p:sp>
        <p:nvSpPr>
          <p:cNvPr name="Freeform 88" id="88"/>
          <p:cNvSpPr/>
          <p:nvPr/>
        </p:nvSpPr>
        <p:spPr>
          <a:xfrm flipH="false" flipV="false" rot="0">
            <a:off x="968628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89" id="89"/>
          <p:cNvGrpSpPr/>
          <p:nvPr/>
        </p:nvGrpSpPr>
        <p:grpSpPr>
          <a:xfrm rot="0">
            <a:off x="9784080" y="6620256"/>
            <a:ext cx="7498080" cy="841248"/>
            <a:chOff x="0" y="0"/>
            <a:chExt cx="9997440" cy="1121664"/>
          </a:xfrm>
        </p:grpSpPr>
        <p:sp>
          <p:nvSpPr>
            <p:cNvPr name="Freeform 90" id="90"/>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91" id="91"/>
          <p:cNvGrpSpPr/>
          <p:nvPr/>
        </p:nvGrpSpPr>
        <p:grpSpPr>
          <a:xfrm rot="0">
            <a:off x="9784080" y="6591681"/>
            <a:ext cx="7498080" cy="869823"/>
            <a:chOff x="0" y="0"/>
            <a:chExt cx="9997440" cy="1159764"/>
          </a:xfrm>
        </p:grpSpPr>
        <p:sp>
          <p:nvSpPr>
            <p:cNvPr name="Freeform 92" id="92"/>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93" id="93"/>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Issued/active policy record, payment tracking, cancellation &amp; refund tracking</a:t>
              </a:r>
            </a:p>
          </p:txBody>
        </p:sp>
      </p:grpSp>
      <p:sp>
        <p:nvSpPr>
          <p:cNvPr name="Freeform 94" id="94"/>
          <p:cNvSpPr/>
          <p:nvPr/>
        </p:nvSpPr>
        <p:spPr>
          <a:xfrm flipH="false" flipV="false" rot="0">
            <a:off x="535943" y="7997447"/>
            <a:ext cx="17216056" cy="1524952"/>
          </a:xfrm>
          <a:custGeom>
            <a:avLst/>
            <a:gdLst/>
            <a:ahLst/>
            <a:cxnLst/>
            <a:rect r="r" b="b" t="t" l="l"/>
            <a:pathLst>
              <a:path h="1524952" w="17216056">
                <a:moveTo>
                  <a:pt x="0" y="0"/>
                </a:moveTo>
                <a:lnTo>
                  <a:pt x="17216057" y="0"/>
                </a:lnTo>
                <a:lnTo>
                  <a:pt x="17216057" y="1524953"/>
                </a:lnTo>
                <a:lnTo>
                  <a:pt x="0" y="152495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95" id="95"/>
          <p:cNvGrpSpPr/>
          <p:nvPr/>
        </p:nvGrpSpPr>
        <p:grpSpPr>
          <a:xfrm rot="0">
            <a:off x="914400" y="8119872"/>
            <a:ext cx="4572000" cy="548640"/>
            <a:chOff x="0" y="0"/>
            <a:chExt cx="6096000" cy="731520"/>
          </a:xfrm>
        </p:grpSpPr>
        <p:sp>
          <p:nvSpPr>
            <p:cNvPr name="Freeform 96" id="96"/>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262" r="0" b="-112262"/>
              </a:stretch>
            </a:blipFill>
          </p:spPr>
        </p:sp>
      </p:grpSp>
      <p:grpSp>
        <p:nvGrpSpPr>
          <p:cNvPr name="Group 97" id="97"/>
          <p:cNvGrpSpPr/>
          <p:nvPr/>
        </p:nvGrpSpPr>
        <p:grpSpPr>
          <a:xfrm rot="0">
            <a:off x="914400" y="8091297"/>
            <a:ext cx="4572000" cy="577215"/>
            <a:chOff x="0" y="0"/>
            <a:chExt cx="6096000" cy="769620"/>
          </a:xfrm>
        </p:grpSpPr>
        <p:sp>
          <p:nvSpPr>
            <p:cNvPr name="Freeform 98" id="98"/>
            <p:cNvSpPr/>
            <p:nvPr/>
          </p:nvSpPr>
          <p:spPr>
            <a:xfrm flipH="false" flipV="false" rot="0">
              <a:off x="0" y="0"/>
              <a:ext cx="6096000" cy="769620"/>
            </a:xfrm>
            <a:custGeom>
              <a:avLst/>
              <a:gdLst/>
              <a:ahLst/>
              <a:cxnLst/>
              <a:rect r="r" b="b" t="t" l="l"/>
              <a:pathLst>
                <a:path h="769620" w="6096000">
                  <a:moveTo>
                    <a:pt x="0" y="0"/>
                  </a:moveTo>
                  <a:lnTo>
                    <a:pt x="6096000" y="0"/>
                  </a:lnTo>
                  <a:lnTo>
                    <a:pt x="6096000" y="769620"/>
                  </a:lnTo>
                  <a:lnTo>
                    <a:pt x="0" y="769620"/>
                  </a:lnTo>
                  <a:close/>
                </a:path>
              </a:pathLst>
            </a:custGeom>
            <a:blipFill>
              <a:blip r:embed="rId4">
                <a:alphaModFix amt="0"/>
              </a:blip>
              <a:stretch>
                <a:fillRect l="0" t="-104336" r="0" b="-104336"/>
              </a:stretch>
            </a:blipFill>
          </p:spPr>
        </p:sp>
        <p:sp>
          <p:nvSpPr>
            <p:cNvPr name="TextBox 99" id="99"/>
            <p:cNvSpPr txBox="true"/>
            <p:nvPr/>
          </p:nvSpPr>
          <p:spPr>
            <a:xfrm>
              <a:off x="0" y="-38100"/>
              <a:ext cx="6096000" cy="80772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Object Status Reference</a:t>
              </a:r>
            </a:p>
          </p:txBody>
        </p:sp>
      </p:grpSp>
      <p:grpSp>
        <p:nvGrpSpPr>
          <p:cNvPr name="Group 100" id="100"/>
          <p:cNvGrpSpPr/>
          <p:nvPr/>
        </p:nvGrpSpPr>
        <p:grpSpPr>
          <a:xfrm rot="0">
            <a:off x="914400" y="8631936"/>
            <a:ext cx="16642080" cy="731520"/>
            <a:chOff x="0" y="0"/>
            <a:chExt cx="22189440" cy="975360"/>
          </a:xfrm>
        </p:grpSpPr>
        <p:sp>
          <p:nvSpPr>
            <p:cNvPr name="Freeform 101" id="101"/>
            <p:cNvSpPr/>
            <p:nvPr/>
          </p:nvSpPr>
          <p:spPr>
            <a:xfrm flipH="false" flipV="false" rot="0">
              <a:off x="0" y="0"/>
              <a:ext cx="22189439" cy="975360"/>
            </a:xfrm>
            <a:custGeom>
              <a:avLst/>
              <a:gdLst/>
              <a:ahLst/>
              <a:cxnLst/>
              <a:rect r="r" b="b" t="t" l="l"/>
              <a:pathLst>
                <a:path h="975360" w="22189439">
                  <a:moveTo>
                    <a:pt x="0" y="0"/>
                  </a:moveTo>
                  <a:lnTo>
                    <a:pt x="22189439" y="0"/>
                  </a:lnTo>
                  <a:lnTo>
                    <a:pt x="22189439" y="975360"/>
                  </a:lnTo>
                  <a:lnTo>
                    <a:pt x="0" y="975360"/>
                  </a:lnTo>
                  <a:close/>
                </a:path>
              </a:pathLst>
            </a:custGeom>
            <a:blipFill>
              <a:blip r:embed="rId3">
                <a:alphaModFix amt="0"/>
              </a:blip>
              <a:stretch>
                <a:fillRect l="0" t="-392976" r="0" b="-392976"/>
              </a:stretch>
            </a:blipFill>
          </p:spPr>
        </p:sp>
      </p:grpSp>
      <p:grpSp>
        <p:nvGrpSpPr>
          <p:cNvPr name="Group 102" id="102"/>
          <p:cNvGrpSpPr/>
          <p:nvPr/>
        </p:nvGrpSpPr>
        <p:grpSpPr>
          <a:xfrm rot="0">
            <a:off x="914400" y="8603361"/>
            <a:ext cx="16642080" cy="760095"/>
            <a:chOff x="0" y="0"/>
            <a:chExt cx="22189440" cy="1013460"/>
          </a:xfrm>
        </p:grpSpPr>
        <p:sp>
          <p:nvSpPr>
            <p:cNvPr name="Freeform 103" id="103"/>
            <p:cNvSpPr/>
            <p:nvPr/>
          </p:nvSpPr>
          <p:spPr>
            <a:xfrm flipH="false" flipV="false" rot="0">
              <a:off x="0" y="0"/>
              <a:ext cx="22189439" cy="1013460"/>
            </a:xfrm>
            <a:custGeom>
              <a:avLst/>
              <a:gdLst/>
              <a:ahLst/>
              <a:cxnLst/>
              <a:rect r="r" b="b" t="t" l="l"/>
              <a:pathLst>
                <a:path h="1013460" w="22189439">
                  <a:moveTo>
                    <a:pt x="0" y="0"/>
                  </a:moveTo>
                  <a:lnTo>
                    <a:pt x="22189439" y="0"/>
                  </a:lnTo>
                  <a:lnTo>
                    <a:pt x="22189439" y="1013460"/>
                  </a:lnTo>
                  <a:lnTo>
                    <a:pt x="0" y="1013460"/>
                  </a:lnTo>
                  <a:close/>
                </a:path>
              </a:pathLst>
            </a:custGeom>
            <a:blipFill>
              <a:blip r:embed="rId4">
                <a:alphaModFix amt="0"/>
              </a:blip>
              <a:stretch>
                <a:fillRect l="0" t="-376619" r="0" b="-376619"/>
              </a:stretch>
            </a:blipFill>
          </p:spPr>
        </p:sp>
        <p:sp>
          <p:nvSpPr>
            <p:cNvPr name="TextBox 104" id="104"/>
            <p:cNvSpPr txBox="true"/>
            <p:nvPr/>
          </p:nvSpPr>
          <p:spPr>
            <a:xfrm>
              <a:off x="0" y="-38100"/>
              <a:ext cx="22189440" cy="1051560"/>
            </a:xfrm>
            <a:prstGeom prst="rect">
              <a:avLst/>
            </a:prstGeom>
          </p:spPr>
          <p:txBody>
            <a:bodyPr anchor="ctr" rtlCol="false" tIns="0" lIns="0" bIns="0" rIns="0"/>
            <a:lstStyle/>
            <a:p>
              <a:pPr algn="l">
                <a:lnSpc>
                  <a:spcPts val="2280"/>
                </a:lnSpc>
              </a:pPr>
              <a:r>
                <a:rPr lang="en-US" sz="1900" b="true">
                  <a:solidFill>
                    <a:srgbClr val="7B2FBE"/>
                  </a:solidFill>
                  <a:latin typeface="Calibri (MS) Bold"/>
                  <a:ea typeface="Calibri (MS) Bold"/>
                  <a:cs typeface="Calibri (MS) Bold"/>
                  <a:sym typeface="Calibri (MS) Bold"/>
                </a:rPr>
                <a:t>Quotation: </a:t>
              </a:r>
              <a:r>
                <a:rPr lang="en-US" sz="1900">
                  <a:solidFill>
                    <a:srgbClr val="555555"/>
                  </a:solidFill>
                  <a:latin typeface="Calibri (MS)"/>
                  <a:ea typeface="Calibri (MS)"/>
                  <a:cs typeface="Calibri (MS)"/>
                  <a:sym typeface="Calibri (MS)"/>
                </a:rPr>
                <a:t>QUOTED · ACCEPTED · REJECTED · EXPIRED · CONVERTED     </a:t>
              </a:r>
              <a:r>
                <a:rPr lang="en-US" sz="1900" b="true">
                  <a:solidFill>
                    <a:srgbClr val="059669"/>
                  </a:solidFill>
                  <a:latin typeface="Calibri (MS) Bold"/>
                  <a:ea typeface="Calibri (MS) Bold"/>
                  <a:cs typeface="Calibri (MS) Bold"/>
                  <a:sym typeface="Calibri (MS) Bold"/>
                </a:rPr>
                <a:t>Policy: </a:t>
              </a:r>
              <a:r>
                <a:rPr lang="en-US" sz="1900">
                  <a:solidFill>
                    <a:srgbClr val="555555"/>
                  </a:solidFill>
                  <a:latin typeface="Calibri (MS)"/>
                  <a:ea typeface="Calibri (MS)"/>
                  <a:cs typeface="Calibri (MS)"/>
                  <a:sym typeface="Calibri (MS)"/>
                </a:rPr>
                <a:t>ISSUED · ACTIVE · EXPIRED · CANCELLED     </a:t>
              </a:r>
              <a:r>
                <a:rPr lang="en-US" sz="1900" b="true">
                  <a:solidFill>
                    <a:srgbClr val="D97706"/>
                  </a:solidFill>
                  <a:latin typeface="Calibri (MS) Bold"/>
                  <a:ea typeface="Calibri (MS) Bold"/>
                  <a:cs typeface="Calibri (MS) Bold"/>
                  <a:sym typeface="Calibri (MS) Bold"/>
                </a:rPr>
                <a:t>Payment: </a:t>
              </a:r>
              <a:r>
                <a:rPr lang="en-US" sz="1900">
                  <a:solidFill>
                    <a:srgbClr val="555555"/>
                  </a:solidFill>
                  <a:latin typeface="Calibri (MS)"/>
                  <a:ea typeface="Calibri (MS)"/>
                  <a:cs typeface="Calibri (MS)"/>
                  <a:sym typeface="Calibri (MS)"/>
                </a:rPr>
                <a:t>PENDING · PAID · FAILED · REFUNDED</a:t>
              </a: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323860" y="2751103"/>
            <a:ext cx="9640279" cy="4784795"/>
            <a:chOff x="0" y="0"/>
            <a:chExt cx="844392" cy="419100"/>
          </a:xfrm>
        </p:grpSpPr>
        <p:sp>
          <p:nvSpPr>
            <p:cNvPr name="Freeform 3" id="3"/>
            <p:cNvSpPr/>
            <p:nvPr/>
          </p:nvSpPr>
          <p:spPr>
            <a:xfrm flipH="false" flipV="false" rot="0">
              <a:off x="0" y="0"/>
              <a:ext cx="844392" cy="419100"/>
            </a:xfrm>
            <a:custGeom>
              <a:avLst/>
              <a:gdLst/>
              <a:ahLst/>
              <a:cxnLst/>
              <a:rect r="r" b="b" t="t" l="l"/>
              <a:pathLst>
                <a:path h="419100" w="844392">
                  <a:moveTo>
                    <a:pt x="15685" y="0"/>
                  </a:moveTo>
                  <a:lnTo>
                    <a:pt x="828707" y="0"/>
                  </a:lnTo>
                  <a:cubicBezTo>
                    <a:pt x="832867" y="0"/>
                    <a:pt x="836856" y="1653"/>
                    <a:pt x="839798" y="4594"/>
                  </a:cubicBezTo>
                  <a:cubicBezTo>
                    <a:pt x="842739" y="7536"/>
                    <a:pt x="844392" y="11525"/>
                    <a:pt x="844392" y="15685"/>
                  </a:cubicBezTo>
                  <a:lnTo>
                    <a:pt x="844392" y="403415"/>
                  </a:lnTo>
                  <a:cubicBezTo>
                    <a:pt x="844392" y="412078"/>
                    <a:pt x="837369" y="419100"/>
                    <a:pt x="828707" y="419100"/>
                  </a:cubicBezTo>
                  <a:lnTo>
                    <a:pt x="15685" y="419100"/>
                  </a:lnTo>
                  <a:cubicBezTo>
                    <a:pt x="11525" y="419100"/>
                    <a:pt x="7536" y="417447"/>
                    <a:pt x="4594" y="414506"/>
                  </a:cubicBezTo>
                  <a:cubicBezTo>
                    <a:pt x="1653" y="411564"/>
                    <a:pt x="0" y="407575"/>
                    <a:pt x="0" y="403415"/>
                  </a:cubicBezTo>
                  <a:lnTo>
                    <a:pt x="0" y="15685"/>
                  </a:lnTo>
                  <a:cubicBezTo>
                    <a:pt x="0" y="11525"/>
                    <a:pt x="1653" y="7536"/>
                    <a:pt x="4594" y="4594"/>
                  </a:cubicBezTo>
                  <a:cubicBezTo>
                    <a:pt x="7536" y="1653"/>
                    <a:pt x="11525" y="0"/>
                    <a:pt x="15685" y="0"/>
                  </a:cubicBezTo>
                  <a:close/>
                </a:path>
              </a:pathLst>
            </a:custGeom>
            <a:ln w="85725" cap="rnd">
              <a:gradFill>
                <a:gsLst>
                  <a:gs pos="0">
                    <a:srgbClr val="831864">
                      <a:alpha val="100000"/>
                    </a:srgbClr>
                  </a:gs>
                  <a:gs pos="50000">
                    <a:srgbClr val="AD0C40">
                      <a:alpha val="100000"/>
                    </a:srgbClr>
                  </a:gs>
                  <a:gs pos="100000">
                    <a:srgbClr val="D6001C">
                      <a:alpha val="100000"/>
                    </a:srgbClr>
                  </a:gs>
                </a:gsLst>
                <a:lin ang="0"/>
              </a:gradFill>
              <a:prstDash val="solid"/>
              <a:round/>
            </a:ln>
          </p:spPr>
        </p:sp>
        <p:sp>
          <p:nvSpPr>
            <p:cNvPr name="TextBox 4" id="4"/>
            <p:cNvSpPr txBox="true"/>
            <p:nvPr/>
          </p:nvSpPr>
          <p:spPr>
            <a:xfrm>
              <a:off x="0" y="-47625"/>
              <a:ext cx="844392" cy="466725"/>
            </a:xfrm>
            <a:prstGeom prst="rect">
              <a:avLst/>
            </a:prstGeom>
          </p:spPr>
          <p:txBody>
            <a:bodyPr anchor="ctr" rtlCol="false" tIns="50800" lIns="50800" bIns="50800" rIns="50800"/>
            <a:lstStyle/>
            <a:p>
              <a:pPr algn="ctr">
                <a:lnSpc>
                  <a:spcPts val="2639"/>
                </a:lnSpc>
              </a:pPr>
            </a:p>
          </p:txBody>
        </p:sp>
      </p:grpSp>
      <p:sp>
        <p:nvSpPr>
          <p:cNvPr name="TextBox 5" id="5"/>
          <p:cNvSpPr txBox="true"/>
          <p:nvPr/>
        </p:nvSpPr>
        <p:spPr>
          <a:xfrm rot="0">
            <a:off x="5403592" y="4255453"/>
            <a:ext cx="7480816" cy="1708154"/>
          </a:xfrm>
          <a:prstGeom prst="rect">
            <a:avLst/>
          </a:prstGeom>
        </p:spPr>
        <p:txBody>
          <a:bodyPr anchor="t" rtlCol="false" tIns="0" lIns="0" bIns="0" rIns="0">
            <a:spAutoFit/>
          </a:bodyPr>
          <a:lstStyle/>
          <a:p>
            <a:pPr algn="ctr">
              <a:lnSpc>
                <a:spcPts val="13999"/>
              </a:lnSpc>
            </a:pPr>
            <a:r>
              <a:rPr lang="en-US" b="true" sz="9999">
                <a:gradFill>
                  <a:gsLst>
                    <a:gs pos="0">
                      <a:srgbClr val="831864">
                        <a:alpha val="100000"/>
                      </a:srgbClr>
                    </a:gs>
                    <a:gs pos="50000">
                      <a:srgbClr val="AD0C40">
                        <a:alpha val="100000"/>
                      </a:srgbClr>
                    </a:gs>
                    <a:gs pos="100000">
                      <a:srgbClr val="D6001C">
                        <a:alpha val="100000"/>
                      </a:srgbClr>
                    </a:gs>
                  </a:gsLst>
                  <a:lin ang="0"/>
                </a:gra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DAHKwe1wvA0</dc:identifier>
  <dcterms:modified xsi:type="dcterms:W3CDTF">2011-08-01T06:04:30Z</dcterms:modified>
  <cp:revision>1</cp:revision>
  <dc:title>BUSSINESS PROCESS - BPMN SLIDES</dc:title>
</cp:coreProperties>
</file>