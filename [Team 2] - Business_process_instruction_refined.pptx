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bin" panose="020B0604020202020204" charset="-93"/>
      <p:regular r:id="rId10"/>
    </p:embeddedFont>
    <p:embeddedFont>
      <p:font typeface="Cabin Bold" panose="020B0604020202020204" charset="-93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Noto Sans" panose="020B0502040504020204" pitchFamily="34" charset="0"/>
      <p:regular r:id="rId16"/>
    </p:embeddedFont>
    <p:embeddedFont>
      <p:font typeface="Noto Sans Bold" panose="020B0802040504020204" charset="0"/>
      <p:regular r:id="rId17"/>
    </p:embeddedFont>
    <p:embeddedFont>
      <p:font typeface="Open Sans 1" panose="020B0604020202020204" charset="0"/>
      <p:regular r:id="rId18"/>
    </p:embeddedFont>
    <p:embeddedFont>
      <p:font typeface="Poppins Bold" panose="020B0604020202020204" charset="0"/>
      <p:regular r:id="rId19"/>
    </p:embeddedFont>
    <p:embeddedFont>
      <p:font typeface="Source Sans Pr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04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svg"/><Relationship Id="rId7" Type="http://schemas.openxmlformats.org/officeDocument/2006/relationships/image" Target="../media/image3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htnt90dev/rookies-data-dn-2026/blob/feat/doc-business-process-team-2/docs/business-process/seq_diagram_insurance_processes.png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229600"/>
            <a:ext cx="13139762" cy="2057400"/>
            <a:chOff x="0" y="0"/>
            <a:chExt cx="3460678" cy="541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0678" cy="541867"/>
            </a:xfrm>
            <a:custGeom>
              <a:avLst/>
              <a:gdLst/>
              <a:ahLst/>
              <a:cxnLst/>
              <a:rect l="l" t="t" r="r" b="b"/>
              <a:pathLst>
                <a:path w="3460678" h="541867">
                  <a:moveTo>
                    <a:pt x="0" y="0"/>
                  </a:moveTo>
                  <a:lnTo>
                    <a:pt x="3460678" y="0"/>
                  </a:lnTo>
                  <a:lnTo>
                    <a:pt x="3460678" y="541867"/>
                  </a:lnTo>
                  <a:lnTo>
                    <a:pt x="0" y="541867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60678" cy="579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977161" y="9468194"/>
            <a:ext cx="604642" cy="269821"/>
          </a:xfrm>
          <a:custGeom>
            <a:avLst/>
            <a:gdLst/>
            <a:ahLst/>
            <a:cxnLst/>
            <a:rect l="l" t="t" r="r" b="b"/>
            <a:pathLst>
              <a:path w="604642" h="269821">
                <a:moveTo>
                  <a:pt x="0" y="0"/>
                </a:moveTo>
                <a:lnTo>
                  <a:pt x="604642" y="0"/>
                </a:lnTo>
                <a:lnTo>
                  <a:pt x="604642" y="269821"/>
                </a:lnTo>
                <a:lnTo>
                  <a:pt x="0" y="269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287124" y="-710254"/>
            <a:ext cx="3706827" cy="37068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001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699272" y="703549"/>
            <a:ext cx="882531" cy="879221"/>
          </a:xfrm>
          <a:custGeom>
            <a:avLst/>
            <a:gdLst/>
            <a:ahLst/>
            <a:cxnLst/>
            <a:rect l="l" t="t" r="r" b="b"/>
            <a:pathLst>
              <a:path w="882531" h="879221">
                <a:moveTo>
                  <a:pt x="0" y="0"/>
                </a:moveTo>
                <a:lnTo>
                  <a:pt x="882531" y="0"/>
                </a:lnTo>
                <a:lnTo>
                  <a:pt x="882531" y="879221"/>
                </a:lnTo>
                <a:lnTo>
                  <a:pt x="0" y="879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790621" y="1028700"/>
            <a:ext cx="5791182" cy="8229600"/>
            <a:chOff x="0" y="0"/>
            <a:chExt cx="676019" cy="9606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6019" cy="960662"/>
            </a:xfrm>
            <a:custGeom>
              <a:avLst/>
              <a:gdLst/>
              <a:ahLst/>
              <a:cxnLst/>
              <a:rect l="l" t="t" r="r" b="b"/>
              <a:pathLst>
                <a:path w="676019" h="960662">
                  <a:moveTo>
                    <a:pt x="93579" y="0"/>
                  </a:moveTo>
                  <a:lnTo>
                    <a:pt x="582440" y="0"/>
                  </a:lnTo>
                  <a:cubicBezTo>
                    <a:pt x="607259" y="0"/>
                    <a:pt x="631061" y="9859"/>
                    <a:pt x="648611" y="27409"/>
                  </a:cubicBezTo>
                  <a:cubicBezTo>
                    <a:pt x="666160" y="44958"/>
                    <a:pt x="676019" y="68760"/>
                    <a:pt x="676019" y="93579"/>
                  </a:cubicBezTo>
                  <a:lnTo>
                    <a:pt x="676019" y="867083"/>
                  </a:lnTo>
                  <a:cubicBezTo>
                    <a:pt x="676019" y="891901"/>
                    <a:pt x="666160" y="915704"/>
                    <a:pt x="648611" y="933253"/>
                  </a:cubicBezTo>
                  <a:cubicBezTo>
                    <a:pt x="631061" y="950803"/>
                    <a:pt x="607259" y="960662"/>
                    <a:pt x="582440" y="960662"/>
                  </a:cubicBezTo>
                  <a:lnTo>
                    <a:pt x="93579" y="960662"/>
                  </a:lnTo>
                  <a:cubicBezTo>
                    <a:pt x="68760" y="960662"/>
                    <a:pt x="44958" y="950803"/>
                    <a:pt x="27409" y="933253"/>
                  </a:cubicBezTo>
                  <a:cubicBezTo>
                    <a:pt x="9859" y="915704"/>
                    <a:pt x="0" y="891901"/>
                    <a:pt x="0" y="867083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blipFill>
              <a:blip r:embed="rId6"/>
              <a:stretch>
                <a:fillRect l="-50415" r="-102216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12" name="Freeform 12"/>
          <p:cNvSpPr/>
          <p:nvPr/>
        </p:nvSpPr>
        <p:spPr>
          <a:xfrm>
            <a:off x="1028700" y="9098953"/>
            <a:ext cx="318694" cy="318694"/>
          </a:xfrm>
          <a:custGeom>
            <a:avLst/>
            <a:gdLst/>
            <a:ahLst/>
            <a:cxnLst/>
            <a:rect l="l" t="t" r="r" b="b"/>
            <a:pathLst>
              <a:path w="318694" h="318694">
                <a:moveTo>
                  <a:pt x="0" y="0"/>
                </a:moveTo>
                <a:lnTo>
                  <a:pt x="318694" y="0"/>
                </a:lnTo>
                <a:lnTo>
                  <a:pt x="318694" y="318694"/>
                </a:lnTo>
                <a:lnTo>
                  <a:pt x="0" y="3186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5400000">
            <a:off x="-1808560" y="4384920"/>
            <a:ext cx="3617120" cy="633412"/>
            <a:chOff x="0" y="0"/>
            <a:chExt cx="2320761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20761" cy="406400"/>
            </a:xfrm>
            <a:custGeom>
              <a:avLst/>
              <a:gdLst/>
              <a:ahLst/>
              <a:cxnLst/>
              <a:rect l="l" t="t" r="r" b="b"/>
              <a:pathLst>
                <a:path w="2320761" h="406400">
                  <a:moveTo>
                    <a:pt x="2117561" y="0"/>
                  </a:moveTo>
                  <a:cubicBezTo>
                    <a:pt x="2229786" y="0"/>
                    <a:pt x="2320761" y="90976"/>
                    <a:pt x="2320761" y="203200"/>
                  </a:cubicBezTo>
                  <a:cubicBezTo>
                    <a:pt x="2320761" y="315424"/>
                    <a:pt x="2229786" y="406400"/>
                    <a:pt x="211756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207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17616" y="2245501"/>
            <a:ext cx="10173005" cy="2695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06080E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 Business</a:t>
            </a:r>
          </a:p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06080E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 Overview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17616" y="6048376"/>
            <a:ext cx="8319107" cy="890300"/>
            <a:chOff x="0" y="0"/>
            <a:chExt cx="3797467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97467" cy="406400"/>
            </a:xfrm>
            <a:custGeom>
              <a:avLst/>
              <a:gdLst/>
              <a:ahLst/>
              <a:cxnLst/>
              <a:rect l="l" t="t" r="r" b="b"/>
              <a:pathLst>
                <a:path w="3797467" h="406400">
                  <a:moveTo>
                    <a:pt x="3594267" y="0"/>
                  </a:moveTo>
                  <a:cubicBezTo>
                    <a:pt x="3706491" y="0"/>
                    <a:pt x="3797467" y="90976"/>
                    <a:pt x="3797467" y="203200"/>
                  </a:cubicBezTo>
                  <a:cubicBezTo>
                    <a:pt x="3797467" y="315424"/>
                    <a:pt x="3706491" y="406400"/>
                    <a:pt x="35942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8151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79746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17616" y="6224477"/>
            <a:ext cx="8299920" cy="51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sz="300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Quotation · Policy · Payment · Cancellation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9004" y="9061413"/>
            <a:ext cx="4850877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Presentation by Team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232518"/>
            <a:ext cx="6700837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 b="1">
                <a:solidFill>
                  <a:srgbClr val="06080E"/>
                </a:solidFill>
                <a:latin typeface="Poppins Bold"/>
                <a:ea typeface="Poppins Bold"/>
                <a:cs typeface="Poppins Bold"/>
                <a:sym typeface="Poppins Bold"/>
              </a:rPr>
              <a:t>CarPro Insurance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195"/>
            <a:chOff x="0" y="0"/>
            <a:chExt cx="4816593" cy="326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6109"/>
            </a:xfrm>
            <a:custGeom>
              <a:avLst/>
              <a:gdLst/>
              <a:ahLst/>
              <a:cxnLst/>
              <a:rect l="l" t="t" r="r" b="b"/>
              <a:pathLst>
                <a:path w="4816592" h="326109">
                  <a:moveTo>
                    <a:pt x="0" y="0"/>
                  </a:moveTo>
                  <a:lnTo>
                    <a:pt x="4816592" y="0"/>
                  </a:lnTo>
                  <a:lnTo>
                    <a:pt x="4816592" y="326109"/>
                  </a:lnTo>
                  <a:lnTo>
                    <a:pt x="0" y="326109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4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9933" y="3233005"/>
            <a:ext cx="4009154" cy="2047665"/>
            <a:chOff x="0" y="0"/>
            <a:chExt cx="1055909" cy="5393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31456" y="3233624"/>
            <a:ext cx="4009154" cy="2047665"/>
            <a:chOff x="0" y="0"/>
            <a:chExt cx="1055909" cy="5393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0185" y="3233005"/>
            <a:ext cx="4009154" cy="2047665"/>
            <a:chOff x="0" y="0"/>
            <a:chExt cx="1055909" cy="5393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68913" y="3233005"/>
            <a:ext cx="4009154" cy="2047665"/>
            <a:chOff x="0" y="0"/>
            <a:chExt cx="1055909" cy="5393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9933" y="5731500"/>
            <a:ext cx="4009154" cy="2047665"/>
            <a:chOff x="0" y="0"/>
            <a:chExt cx="1055909" cy="5393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31456" y="5732118"/>
            <a:ext cx="4009154" cy="2047665"/>
            <a:chOff x="0" y="0"/>
            <a:chExt cx="1055909" cy="5393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55909" cy="586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50185" y="5731500"/>
            <a:ext cx="4009154" cy="2047665"/>
            <a:chOff x="0" y="0"/>
            <a:chExt cx="1055909" cy="5393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768913" y="5731500"/>
            <a:ext cx="4009154" cy="2047665"/>
            <a:chOff x="0" y="0"/>
            <a:chExt cx="1055909" cy="5393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55909" cy="539303"/>
            </a:xfrm>
            <a:custGeom>
              <a:avLst/>
              <a:gdLst/>
              <a:ahLst/>
              <a:cxnLst/>
              <a:rect l="l" t="t" r="r" b="b"/>
              <a:pathLst>
                <a:path w="1055909" h="539303">
                  <a:moveTo>
                    <a:pt x="0" y="0"/>
                  </a:moveTo>
                  <a:lnTo>
                    <a:pt x="1055909" y="0"/>
                  </a:lnTo>
                  <a:lnTo>
                    <a:pt x="1055909" y="539303"/>
                  </a:lnTo>
                  <a:lnTo>
                    <a:pt x="0" y="539303"/>
                  </a:lnTo>
                  <a:close/>
                </a:path>
              </a:pathLst>
            </a:custGeom>
            <a:solidFill>
              <a:srgbClr val="C4C8C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55909" cy="577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4519087" y="4256837"/>
            <a:ext cx="412369" cy="618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AutoShape 30"/>
          <p:cNvSpPr/>
          <p:nvPr/>
        </p:nvSpPr>
        <p:spPr>
          <a:xfrm flipV="1">
            <a:off x="8940610" y="4256837"/>
            <a:ext cx="409575" cy="618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1" name="AutoShape 31"/>
          <p:cNvSpPr/>
          <p:nvPr/>
        </p:nvSpPr>
        <p:spPr>
          <a:xfrm>
            <a:off x="13359338" y="4256837"/>
            <a:ext cx="409575" cy="0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AutoShape 32"/>
          <p:cNvSpPr/>
          <p:nvPr/>
        </p:nvSpPr>
        <p:spPr>
          <a:xfrm flipH="1" flipV="1">
            <a:off x="4519087" y="6755332"/>
            <a:ext cx="412369" cy="618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3" name="AutoShape 33"/>
          <p:cNvSpPr/>
          <p:nvPr/>
        </p:nvSpPr>
        <p:spPr>
          <a:xfrm flipH="1">
            <a:off x="8940610" y="6755332"/>
            <a:ext cx="409575" cy="618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4" name="AutoShape 34"/>
          <p:cNvSpPr/>
          <p:nvPr/>
        </p:nvSpPr>
        <p:spPr>
          <a:xfrm flipH="1">
            <a:off x="13359338" y="6755332"/>
            <a:ext cx="409575" cy="0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AutoShape 35"/>
          <p:cNvSpPr/>
          <p:nvPr/>
        </p:nvSpPr>
        <p:spPr>
          <a:xfrm>
            <a:off x="15773490" y="5280670"/>
            <a:ext cx="0" cy="450830"/>
          </a:xfrm>
          <a:prstGeom prst="line">
            <a:avLst/>
          </a:prstGeom>
          <a:ln w="38100" cap="flat">
            <a:solidFill>
              <a:srgbClr val="6C6C6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Freeform 36"/>
          <p:cNvSpPr/>
          <p:nvPr/>
        </p:nvSpPr>
        <p:spPr>
          <a:xfrm>
            <a:off x="822123" y="3395530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8" y="0"/>
                </a:lnTo>
                <a:lnTo>
                  <a:pt x="670808" y="670807"/>
                </a:lnTo>
                <a:lnTo>
                  <a:pt x="0" y="670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237967" y="3395530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8" y="0"/>
                </a:lnTo>
                <a:lnTo>
                  <a:pt x="670808" y="670807"/>
                </a:lnTo>
                <a:lnTo>
                  <a:pt x="0" y="670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9652092" y="3395530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7" y="0"/>
                </a:lnTo>
                <a:lnTo>
                  <a:pt x="670807" y="670807"/>
                </a:lnTo>
                <a:lnTo>
                  <a:pt x="0" y="670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4178488" y="3395530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8" y="0"/>
                </a:lnTo>
                <a:lnTo>
                  <a:pt x="670808" y="670807"/>
                </a:lnTo>
                <a:lnTo>
                  <a:pt x="0" y="670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175567" y="5869288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7" y="0"/>
                </a:lnTo>
                <a:lnTo>
                  <a:pt x="670807" y="670808"/>
                </a:lnTo>
                <a:lnTo>
                  <a:pt x="0" y="6708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655013" y="5869288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8" y="0"/>
                </a:lnTo>
                <a:lnTo>
                  <a:pt x="670808" y="670808"/>
                </a:lnTo>
                <a:lnTo>
                  <a:pt x="0" y="6708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5235046" y="5869288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7" y="0"/>
                </a:lnTo>
                <a:lnTo>
                  <a:pt x="670807" y="670808"/>
                </a:lnTo>
                <a:lnTo>
                  <a:pt x="0" y="6708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05335" y="5869288"/>
            <a:ext cx="670808" cy="670808"/>
          </a:xfrm>
          <a:custGeom>
            <a:avLst/>
            <a:gdLst/>
            <a:ahLst/>
            <a:cxnLst/>
            <a:rect l="l" t="t" r="r" b="b"/>
            <a:pathLst>
              <a:path w="670808" h="670808">
                <a:moveTo>
                  <a:pt x="0" y="0"/>
                </a:moveTo>
                <a:lnTo>
                  <a:pt x="670808" y="0"/>
                </a:lnTo>
                <a:lnTo>
                  <a:pt x="670808" y="670808"/>
                </a:lnTo>
                <a:lnTo>
                  <a:pt x="0" y="6708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028700" y="411887"/>
            <a:ext cx="1233359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BIG PICTURE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5335" y="4209212"/>
            <a:ext cx="340892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Customer requests insurance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37967" y="4209212"/>
            <a:ext cx="3396131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Agent creates &amp; prices quotation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55013" y="4209212"/>
            <a:ext cx="3182251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Customer accepts / rejects / expires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178488" y="4209212"/>
            <a:ext cx="3855311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Quotation converted → Policy issued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178488" y="6684000"/>
            <a:ext cx="341834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Payment created &amp; processed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42470" y="6682971"/>
            <a:ext cx="340733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Policy becomes ACTIVE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35046" y="6684000"/>
            <a:ext cx="370556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Policy expires naturally or is cancelled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9130" y="6708326"/>
            <a:ext cx="273995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Cancellation may trigger refund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195"/>
            <a:chOff x="0" y="0"/>
            <a:chExt cx="4816593" cy="326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6109"/>
            </a:xfrm>
            <a:custGeom>
              <a:avLst/>
              <a:gdLst/>
              <a:ahLst/>
              <a:cxnLst/>
              <a:rect l="l" t="t" r="r" b="b"/>
              <a:pathLst>
                <a:path w="4816592" h="326109">
                  <a:moveTo>
                    <a:pt x="0" y="0"/>
                  </a:moveTo>
                  <a:lnTo>
                    <a:pt x="4816592" y="0"/>
                  </a:lnTo>
                  <a:lnTo>
                    <a:pt x="4816592" y="326109"/>
                  </a:lnTo>
                  <a:lnTo>
                    <a:pt x="0" y="326109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4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54875"/>
            <a:ext cx="1499481" cy="1499481"/>
          </a:xfrm>
          <a:custGeom>
            <a:avLst/>
            <a:gdLst/>
            <a:ahLst/>
            <a:cxnLst/>
            <a:rect l="l" t="t" r="r" b="b"/>
            <a:pathLst>
              <a:path w="1499481" h="1499481">
                <a:moveTo>
                  <a:pt x="0" y="0"/>
                </a:moveTo>
                <a:lnTo>
                  <a:pt x="1499481" y="0"/>
                </a:lnTo>
                <a:lnTo>
                  <a:pt x="1499481" y="1499481"/>
                </a:lnTo>
                <a:lnTo>
                  <a:pt x="0" y="149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7637" y="2324933"/>
            <a:ext cx="881608" cy="959365"/>
          </a:xfrm>
          <a:custGeom>
            <a:avLst/>
            <a:gdLst/>
            <a:ahLst/>
            <a:cxnLst/>
            <a:rect l="l" t="t" r="r" b="b"/>
            <a:pathLst>
              <a:path w="881608" h="959365">
                <a:moveTo>
                  <a:pt x="0" y="0"/>
                </a:moveTo>
                <a:lnTo>
                  <a:pt x="881608" y="0"/>
                </a:lnTo>
                <a:lnTo>
                  <a:pt x="881608" y="959365"/>
                </a:lnTo>
                <a:lnTo>
                  <a:pt x="0" y="959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31020" y="2096688"/>
            <a:ext cx="396447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D600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Customer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1020" y="2955013"/>
            <a:ext cx="12923380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Requests insurance, provides info, accepts quotation, pays premium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6732644"/>
            <a:ext cx="1499481" cy="1499481"/>
          </a:xfrm>
          <a:custGeom>
            <a:avLst/>
            <a:gdLst/>
            <a:ahLst/>
            <a:cxnLst/>
            <a:rect l="l" t="t" r="r" b="b"/>
            <a:pathLst>
              <a:path w="1499481" h="1499481">
                <a:moveTo>
                  <a:pt x="0" y="0"/>
                </a:moveTo>
                <a:lnTo>
                  <a:pt x="1499481" y="0"/>
                </a:lnTo>
                <a:lnTo>
                  <a:pt x="1499481" y="1499481"/>
                </a:lnTo>
                <a:lnTo>
                  <a:pt x="0" y="149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1390" y="6986266"/>
            <a:ext cx="594101" cy="992236"/>
          </a:xfrm>
          <a:custGeom>
            <a:avLst/>
            <a:gdLst/>
            <a:ahLst/>
            <a:cxnLst/>
            <a:rect l="l" t="t" r="r" b="b"/>
            <a:pathLst>
              <a:path w="594101" h="992236">
                <a:moveTo>
                  <a:pt x="0" y="0"/>
                </a:moveTo>
                <a:lnTo>
                  <a:pt x="594101" y="0"/>
                </a:lnTo>
                <a:lnTo>
                  <a:pt x="594101" y="992236"/>
                </a:lnTo>
                <a:lnTo>
                  <a:pt x="0" y="992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31020" y="6769436"/>
            <a:ext cx="615161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D600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Payment Processor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31020" y="7632782"/>
            <a:ext cx="1338990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Processes payments &amp; refunds; returns PENDING / PAID / FAILED / REFUNDED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11887"/>
            <a:ext cx="12333597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BUSINESS ACTORS</a:t>
            </a:r>
          </a:p>
          <a:p>
            <a:pPr algn="l">
              <a:lnSpc>
                <a:spcPts val="4299"/>
              </a:lnSpc>
            </a:pPr>
            <a:endParaRPr lang="en-US" sz="4299" b="1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028700" y="4392556"/>
            <a:ext cx="1499481" cy="1499481"/>
          </a:xfrm>
          <a:custGeom>
            <a:avLst/>
            <a:gdLst/>
            <a:ahLst/>
            <a:cxnLst/>
            <a:rect l="l" t="t" r="r" b="b"/>
            <a:pathLst>
              <a:path w="1499481" h="1499481">
                <a:moveTo>
                  <a:pt x="0" y="0"/>
                </a:moveTo>
                <a:lnTo>
                  <a:pt x="1499481" y="0"/>
                </a:lnTo>
                <a:lnTo>
                  <a:pt x="1499481" y="1499482"/>
                </a:lnTo>
                <a:lnTo>
                  <a:pt x="0" y="149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03732" y="4753036"/>
            <a:ext cx="949418" cy="778523"/>
          </a:xfrm>
          <a:custGeom>
            <a:avLst/>
            <a:gdLst/>
            <a:ahLst/>
            <a:cxnLst/>
            <a:rect l="l" t="t" r="r" b="b"/>
            <a:pathLst>
              <a:path w="949418" h="778523">
                <a:moveTo>
                  <a:pt x="0" y="0"/>
                </a:moveTo>
                <a:lnTo>
                  <a:pt x="949418" y="0"/>
                </a:lnTo>
                <a:lnTo>
                  <a:pt x="949418" y="778522"/>
                </a:lnTo>
                <a:lnTo>
                  <a:pt x="0" y="778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231020" y="4448608"/>
            <a:ext cx="647997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D8151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Insurance Provider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31020" y="5278456"/>
            <a:ext cx="1157022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Offers products, pricing logic, policy issuance &amp; lifecycle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195"/>
            <a:chOff x="0" y="0"/>
            <a:chExt cx="4816593" cy="326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6109"/>
            </a:xfrm>
            <a:custGeom>
              <a:avLst/>
              <a:gdLst/>
              <a:ahLst/>
              <a:cxnLst/>
              <a:rect l="l" t="t" r="r" b="b"/>
              <a:pathLst>
                <a:path w="4816592" h="326109">
                  <a:moveTo>
                    <a:pt x="0" y="0"/>
                  </a:moveTo>
                  <a:lnTo>
                    <a:pt x="4816592" y="0"/>
                  </a:lnTo>
                  <a:lnTo>
                    <a:pt x="4816592" y="326109"/>
                  </a:lnTo>
                  <a:lnTo>
                    <a:pt x="0" y="326109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4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54875"/>
            <a:ext cx="1499481" cy="1499481"/>
          </a:xfrm>
          <a:custGeom>
            <a:avLst/>
            <a:gdLst/>
            <a:ahLst/>
            <a:cxnLst/>
            <a:rect l="l" t="t" r="r" b="b"/>
            <a:pathLst>
              <a:path w="1499481" h="1499481">
                <a:moveTo>
                  <a:pt x="0" y="0"/>
                </a:moveTo>
                <a:lnTo>
                  <a:pt x="1499481" y="0"/>
                </a:lnTo>
                <a:lnTo>
                  <a:pt x="1499481" y="1499481"/>
                </a:lnTo>
                <a:lnTo>
                  <a:pt x="0" y="149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6732644"/>
            <a:ext cx="1499481" cy="1499481"/>
          </a:xfrm>
          <a:custGeom>
            <a:avLst/>
            <a:gdLst/>
            <a:ahLst/>
            <a:cxnLst/>
            <a:rect l="l" t="t" r="r" b="b"/>
            <a:pathLst>
              <a:path w="1499481" h="1499481">
                <a:moveTo>
                  <a:pt x="0" y="0"/>
                </a:moveTo>
                <a:lnTo>
                  <a:pt x="1499481" y="0"/>
                </a:lnTo>
                <a:lnTo>
                  <a:pt x="1499481" y="1499481"/>
                </a:lnTo>
                <a:lnTo>
                  <a:pt x="0" y="149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4392556"/>
            <a:ext cx="1499481" cy="1499481"/>
          </a:xfrm>
          <a:custGeom>
            <a:avLst/>
            <a:gdLst/>
            <a:ahLst/>
            <a:cxnLst/>
            <a:rect l="l" t="t" r="r" b="b"/>
            <a:pathLst>
              <a:path w="1499481" h="1499481">
                <a:moveTo>
                  <a:pt x="0" y="0"/>
                </a:moveTo>
                <a:lnTo>
                  <a:pt x="1499481" y="0"/>
                </a:lnTo>
                <a:lnTo>
                  <a:pt x="1499481" y="1499482"/>
                </a:lnTo>
                <a:lnTo>
                  <a:pt x="0" y="149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8885" y="2386895"/>
            <a:ext cx="639112" cy="835441"/>
          </a:xfrm>
          <a:custGeom>
            <a:avLst/>
            <a:gdLst/>
            <a:ahLst/>
            <a:cxnLst/>
            <a:rect l="l" t="t" r="r" b="b"/>
            <a:pathLst>
              <a:path w="639112" h="835441">
                <a:moveTo>
                  <a:pt x="0" y="0"/>
                </a:moveTo>
                <a:lnTo>
                  <a:pt x="639112" y="0"/>
                </a:lnTo>
                <a:lnTo>
                  <a:pt x="639112" y="835441"/>
                </a:lnTo>
                <a:lnTo>
                  <a:pt x="0" y="83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95182" y="4771973"/>
            <a:ext cx="766518" cy="740648"/>
          </a:xfrm>
          <a:custGeom>
            <a:avLst/>
            <a:gdLst/>
            <a:ahLst/>
            <a:cxnLst/>
            <a:rect l="l" t="t" r="r" b="b"/>
            <a:pathLst>
              <a:path w="766518" h="740648">
                <a:moveTo>
                  <a:pt x="0" y="0"/>
                </a:moveTo>
                <a:lnTo>
                  <a:pt x="766518" y="0"/>
                </a:lnTo>
                <a:lnTo>
                  <a:pt x="766518" y="740648"/>
                </a:lnTo>
                <a:lnTo>
                  <a:pt x="0" y="740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5505" y="7056052"/>
            <a:ext cx="765870" cy="795710"/>
          </a:xfrm>
          <a:custGeom>
            <a:avLst/>
            <a:gdLst/>
            <a:ahLst/>
            <a:cxnLst/>
            <a:rect l="l" t="t" r="r" b="b"/>
            <a:pathLst>
              <a:path w="765870" h="795710">
                <a:moveTo>
                  <a:pt x="0" y="0"/>
                </a:moveTo>
                <a:lnTo>
                  <a:pt x="765871" y="0"/>
                </a:lnTo>
                <a:lnTo>
                  <a:pt x="765871" y="795709"/>
                </a:lnTo>
                <a:lnTo>
                  <a:pt x="0" y="7957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31020" y="6774457"/>
            <a:ext cx="772849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D600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Operations 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31020" y="7632782"/>
            <a:ext cx="1275530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Handles failed payments, overdue cases, cancellations &amp; refund follow-up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1020" y="4448608"/>
            <a:ext cx="785237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D8151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Underwriting Team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1020" y="5278456"/>
            <a:ext cx="1243559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Reviews risk, validates eligibility, approves/rejects quotation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31020" y="2096688"/>
            <a:ext cx="213389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D600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31020" y="2955013"/>
            <a:ext cx="1130538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Collects info, creates quotation, supports issuance &amp; cancellation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11887"/>
            <a:ext cx="12333597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BUSINESS ACTORS</a:t>
            </a:r>
          </a:p>
          <a:p>
            <a:pPr algn="l">
              <a:lnSpc>
                <a:spcPts val="4299"/>
              </a:lnSpc>
            </a:pPr>
            <a:endParaRPr lang="en-US" sz="4299" b="1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195"/>
            <a:chOff x="0" y="0"/>
            <a:chExt cx="4816593" cy="326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6109"/>
            </a:xfrm>
            <a:custGeom>
              <a:avLst/>
              <a:gdLst/>
              <a:ahLst/>
              <a:cxnLst/>
              <a:rect l="l" t="t" r="r" b="b"/>
              <a:pathLst>
                <a:path w="4816592" h="326109">
                  <a:moveTo>
                    <a:pt x="0" y="0"/>
                  </a:moveTo>
                  <a:lnTo>
                    <a:pt x="4816592" y="0"/>
                  </a:lnTo>
                  <a:lnTo>
                    <a:pt x="4816592" y="326109"/>
                  </a:lnTo>
                  <a:lnTo>
                    <a:pt x="0" y="326109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4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11887"/>
            <a:ext cx="12333597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STATUS MAPPING</a:t>
            </a:r>
          </a:p>
          <a:p>
            <a:pPr algn="l">
              <a:lnSpc>
                <a:spcPts val="4299"/>
              </a:lnSpc>
            </a:pPr>
            <a:endParaRPr lang="en-US" sz="4299" b="1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54494" y="1828178"/>
            <a:ext cx="2603699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>
                <a:solidFill>
                  <a:srgbClr val="1E3A8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Quotation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99186" y="1782010"/>
            <a:ext cx="1967867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E3A8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Policy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93990" y="1828178"/>
            <a:ext cx="2267942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>
                <a:solidFill>
                  <a:srgbClr val="1E3A8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Payment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2876850"/>
            <a:ext cx="4855286" cy="1047690"/>
            <a:chOff x="0" y="0"/>
            <a:chExt cx="1278758" cy="275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4210290"/>
            <a:ext cx="4855286" cy="1047690"/>
            <a:chOff x="0" y="0"/>
            <a:chExt cx="1278758" cy="2759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5543730"/>
            <a:ext cx="4855286" cy="1047690"/>
            <a:chOff x="0" y="0"/>
            <a:chExt cx="1278758" cy="2759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6877170"/>
            <a:ext cx="4855286" cy="1047690"/>
            <a:chOff x="0" y="0"/>
            <a:chExt cx="1278758" cy="2759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8210610"/>
            <a:ext cx="4855286" cy="1047690"/>
            <a:chOff x="0" y="0"/>
            <a:chExt cx="1278758" cy="2759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43290" y="3229245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QUOTED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43290" y="4551932"/>
            <a:ext cx="191305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ACCEPTED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43290" y="5896125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REJECTED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43290" y="7240318"/>
            <a:ext cx="308934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EXPIRED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3290" y="8584511"/>
            <a:ext cx="434069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CONVERTED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716357" y="2876850"/>
            <a:ext cx="4855286" cy="1047690"/>
            <a:chOff x="0" y="0"/>
            <a:chExt cx="1278758" cy="27593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14509" y="4199537"/>
            <a:ext cx="4855286" cy="1047690"/>
            <a:chOff x="0" y="0"/>
            <a:chExt cx="1278758" cy="27593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14509" y="5523452"/>
            <a:ext cx="4855286" cy="1047690"/>
            <a:chOff x="0" y="0"/>
            <a:chExt cx="1278758" cy="27593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14509" y="6856892"/>
            <a:ext cx="4855286" cy="1047690"/>
            <a:chOff x="0" y="0"/>
            <a:chExt cx="1278758" cy="2759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230947" y="3229245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ISSUED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30947" y="4551932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ACTIVE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30947" y="5874619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EXPIRED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30947" y="7197306"/>
            <a:ext cx="283610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CANCELLED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2404014" y="2876850"/>
            <a:ext cx="4855286" cy="1047690"/>
            <a:chOff x="0" y="0"/>
            <a:chExt cx="1278758" cy="2759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402166" y="4199537"/>
            <a:ext cx="4855286" cy="1047690"/>
            <a:chOff x="0" y="0"/>
            <a:chExt cx="1278758" cy="27593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402166" y="5523452"/>
            <a:ext cx="4855286" cy="1047690"/>
            <a:chOff x="0" y="0"/>
            <a:chExt cx="1278758" cy="27593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402166" y="6856892"/>
            <a:ext cx="4855286" cy="1047690"/>
            <a:chOff x="0" y="0"/>
            <a:chExt cx="1278758" cy="27593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78758" cy="275935"/>
            </a:xfrm>
            <a:custGeom>
              <a:avLst/>
              <a:gdLst/>
              <a:ahLst/>
              <a:cxnLst/>
              <a:rect l="l" t="t" r="r" b="b"/>
              <a:pathLst>
                <a:path w="1278758" h="275935">
                  <a:moveTo>
                    <a:pt x="0" y="0"/>
                  </a:moveTo>
                  <a:lnTo>
                    <a:pt x="1278758" y="0"/>
                  </a:lnTo>
                  <a:lnTo>
                    <a:pt x="1278758" y="275935"/>
                  </a:lnTo>
                  <a:lnTo>
                    <a:pt x="0" y="27593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278758" cy="31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3057723" y="3229245"/>
            <a:ext cx="247073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PENDING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057723" y="4551932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PAID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057723" y="5874619"/>
            <a:ext cx="19130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FAILED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057723" y="7197306"/>
            <a:ext cx="312456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REFUNDED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195"/>
            <a:chOff x="0" y="0"/>
            <a:chExt cx="4816593" cy="326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6109"/>
            </a:xfrm>
            <a:custGeom>
              <a:avLst/>
              <a:gdLst/>
              <a:ahLst/>
              <a:cxnLst/>
              <a:rect l="l" t="t" r="r" b="b"/>
              <a:pathLst>
                <a:path w="4816592" h="326109">
                  <a:moveTo>
                    <a:pt x="0" y="0"/>
                  </a:moveTo>
                  <a:lnTo>
                    <a:pt x="4816592" y="0"/>
                  </a:lnTo>
                  <a:lnTo>
                    <a:pt x="4816592" y="326109"/>
                  </a:lnTo>
                  <a:lnTo>
                    <a:pt x="0" y="326109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4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1074" y="2341626"/>
            <a:ext cx="17965852" cy="7472189"/>
          </a:xfrm>
          <a:custGeom>
            <a:avLst/>
            <a:gdLst/>
            <a:ahLst/>
            <a:cxnLst/>
            <a:rect l="l" t="t" r="r" b="b"/>
            <a:pathLst>
              <a:path w="17965852" h="7472189">
                <a:moveTo>
                  <a:pt x="0" y="0"/>
                </a:moveTo>
                <a:lnTo>
                  <a:pt x="17965852" y="0"/>
                </a:lnTo>
                <a:lnTo>
                  <a:pt x="17965852" y="7472189"/>
                </a:lnTo>
                <a:lnTo>
                  <a:pt x="0" y="747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277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11887"/>
            <a:ext cx="1233359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BUSINESS PROCESS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519296"/>
            <a:ext cx="10621560" cy="541229"/>
            <a:chOff x="0" y="0"/>
            <a:chExt cx="14162080" cy="72163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135635" cy="721639"/>
              <a:chOff x="0" y="0"/>
              <a:chExt cx="812800" cy="5164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51649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16493">
                    <a:moveTo>
                      <a:pt x="812800" y="258247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313293"/>
                    </a:lnTo>
                    <a:lnTo>
                      <a:pt x="406400" y="313293"/>
                    </a:lnTo>
                    <a:lnTo>
                      <a:pt x="406400" y="516493"/>
                    </a:lnTo>
                    <a:lnTo>
                      <a:pt x="812800" y="258247"/>
                    </a:lnTo>
                    <a:close/>
                  </a:path>
                </a:pathLst>
              </a:custGeom>
              <a:solidFill>
                <a:srgbClr val="1E3A8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165100"/>
                <a:ext cx="711200" cy="1481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651892" y="113169"/>
              <a:ext cx="12510188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3000" u="sng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  <a:hlinkClick r:id="rId3" tooltip="https://github.com/anhtnt90dev/rookies-data-dn-2026/blob/feat/doc-business-process-team-2/docs/business-process/seq_diagram_insurance_processes.png"/>
                </a:rPr>
                <a:t>V</a:t>
              </a:r>
              <a:r>
                <a:rPr lang="en-US" sz="3000" u="sng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  <a:hlinkClick r:id="rId3" tooltip="https://github.com/anhtnt90dev/rookies-data-dn-2026/blob/feat/doc-business-process-team-2/docs/business-process/seq_diagram_insurance_processes.png"/>
                </a:rPr>
                <a:t>iew Full Insurance Process Diagram</a:t>
              </a:r>
              <a:r>
                <a:rPr lang="en-US" sz="3000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195"/>
            <a:chOff x="0" y="0"/>
            <a:chExt cx="4816593" cy="326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6109"/>
            </a:xfrm>
            <a:custGeom>
              <a:avLst/>
              <a:gdLst/>
              <a:ahLst/>
              <a:cxnLst/>
              <a:rect l="l" t="t" r="r" b="b"/>
              <a:pathLst>
                <a:path w="4816592" h="326109">
                  <a:moveTo>
                    <a:pt x="0" y="0"/>
                  </a:moveTo>
                  <a:lnTo>
                    <a:pt x="4816592" y="0"/>
                  </a:lnTo>
                  <a:lnTo>
                    <a:pt x="4816592" y="326109"/>
                  </a:lnTo>
                  <a:lnTo>
                    <a:pt x="0" y="326109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4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38196" y="1867334"/>
            <a:ext cx="8684574" cy="1028053"/>
            <a:chOff x="0" y="0"/>
            <a:chExt cx="2107706" cy="2495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7706" cy="249504"/>
            </a:xfrm>
            <a:custGeom>
              <a:avLst/>
              <a:gdLst/>
              <a:ahLst/>
              <a:cxnLst/>
              <a:rect l="l" t="t" r="r" b="b"/>
              <a:pathLst>
                <a:path w="2107706" h="249504">
                  <a:moveTo>
                    <a:pt x="0" y="0"/>
                  </a:moveTo>
                  <a:lnTo>
                    <a:pt x="2107706" y="0"/>
                  </a:lnTo>
                  <a:lnTo>
                    <a:pt x="2107706" y="249504"/>
                  </a:lnTo>
                  <a:lnTo>
                    <a:pt x="0" y="249504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07706" cy="287604"/>
            </a:xfrm>
            <a:prstGeom prst="rect">
              <a:avLst/>
            </a:prstGeom>
          </p:spPr>
          <p:txBody>
            <a:bodyPr lIns="57811" tIns="57811" rIns="57811" bIns="5781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956880" y="2125489"/>
            <a:ext cx="525539" cy="511744"/>
          </a:xfrm>
          <a:custGeom>
            <a:avLst/>
            <a:gdLst/>
            <a:ahLst/>
            <a:cxnLst/>
            <a:rect l="l" t="t" r="r" b="b"/>
            <a:pathLst>
              <a:path w="525539" h="511744">
                <a:moveTo>
                  <a:pt x="0" y="0"/>
                </a:moveTo>
                <a:lnTo>
                  <a:pt x="525540" y="0"/>
                </a:lnTo>
                <a:lnTo>
                  <a:pt x="525540" y="511744"/>
                </a:lnTo>
                <a:lnTo>
                  <a:pt x="0" y="51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638196" y="3242022"/>
            <a:ext cx="8684574" cy="1028053"/>
            <a:chOff x="0" y="0"/>
            <a:chExt cx="2107706" cy="2495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07706" cy="249504"/>
            </a:xfrm>
            <a:custGeom>
              <a:avLst/>
              <a:gdLst/>
              <a:ahLst/>
              <a:cxnLst/>
              <a:rect l="l" t="t" r="r" b="b"/>
              <a:pathLst>
                <a:path w="2107706" h="249504">
                  <a:moveTo>
                    <a:pt x="0" y="0"/>
                  </a:moveTo>
                  <a:lnTo>
                    <a:pt x="2107706" y="0"/>
                  </a:lnTo>
                  <a:lnTo>
                    <a:pt x="2107706" y="249504"/>
                  </a:lnTo>
                  <a:lnTo>
                    <a:pt x="0" y="2495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07706" cy="287604"/>
            </a:xfrm>
            <a:prstGeom prst="rect">
              <a:avLst/>
            </a:prstGeom>
          </p:spPr>
          <p:txBody>
            <a:bodyPr lIns="57811" tIns="57811" rIns="57811" bIns="5781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929964" y="3500177"/>
            <a:ext cx="525539" cy="511744"/>
          </a:xfrm>
          <a:custGeom>
            <a:avLst/>
            <a:gdLst/>
            <a:ahLst/>
            <a:cxnLst/>
            <a:rect l="l" t="t" r="r" b="b"/>
            <a:pathLst>
              <a:path w="525539" h="511744">
                <a:moveTo>
                  <a:pt x="0" y="0"/>
                </a:moveTo>
                <a:lnTo>
                  <a:pt x="525539" y="0"/>
                </a:lnTo>
                <a:lnTo>
                  <a:pt x="525539" y="511744"/>
                </a:lnTo>
                <a:lnTo>
                  <a:pt x="0" y="51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638196" y="7392983"/>
            <a:ext cx="8684574" cy="1028053"/>
            <a:chOff x="0" y="0"/>
            <a:chExt cx="2107706" cy="2495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07706" cy="249504"/>
            </a:xfrm>
            <a:custGeom>
              <a:avLst/>
              <a:gdLst/>
              <a:ahLst/>
              <a:cxnLst/>
              <a:rect l="l" t="t" r="r" b="b"/>
              <a:pathLst>
                <a:path w="2107706" h="249504">
                  <a:moveTo>
                    <a:pt x="0" y="0"/>
                  </a:moveTo>
                  <a:lnTo>
                    <a:pt x="2107706" y="0"/>
                  </a:lnTo>
                  <a:lnTo>
                    <a:pt x="2107706" y="249504"/>
                  </a:lnTo>
                  <a:lnTo>
                    <a:pt x="0" y="249504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07706" cy="287604"/>
            </a:xfrm>
            <a:prstGeom prst="rect">
              <a:avLst/>
            </a:prstGeom>
          </p:spPr>
          <p:txBody>
            <a:bodyPr lIns="57811" tIns="57811" rIns="57811" bIns="5781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956880" y="7651137"/>
            <a:ext cx="525539" cy="511744"/>
          </a:xfrm>
          <a:custGeom>
            <a:avLst/>
            <a:gdLst/>
            <a:ahLst/>
            <a:cxnLst/>
            <a:rect l="l" t="t" r="r" b="b"/>
            <a:pathLst>
              <a:path w="525539" h="511744">
                <a:moveTo>
                  <a:pt x="0" y="0"/>
                </a:moveTo>
                <a:lnTo>
                  <a:pt x="525540" y="0"/>
                </a:lnTo>
                <a:lnTo>
                  <a:pt x="525540" y="511744"/>
                </a:lnTo>
                <a:lnTo>
                  <a:pt x="0" y="51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8638196" y="4612976"/>
            <a:ext cx="8684574" cy="1028053"/>
            <a:chOff x="0" y="0"/>
            <a:chExt cx="2107706" cy="2495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07706" cy="249504"/>
            </a:xfrm>
            <a:custGeom>
              <a:avLst/>
              <a:gdLst/>
              <a:ahLst/>
              <a:cxnLst/>
              <a:rect l="l" t="t" r="r" b="b"/>
              <a:pathLst>
                <a:path w="2107706" h="249504">
                  <a:moveTo>
                    <a:pt x="0" y="0"/>
                  </a:moveTo>
                  <a:lnTo>
                    <a:pt x="2107706" y="0"/>
                  </a:lnTo>
                  <a:lnTo>
                    <a:pt x="2107706" y="249504"/>
                  </a:lnTo>
                  <a:lnTo>
                    <a:pt x="0" y="249504"/>
                  </a:lnTo>
                  <a:close/>
                </a:path>
              </a:pathLst>
            </a:custGeom>
            <a:solidFill>
              <a:srgbClr val="DBEAFE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107706" cy="287604"/>
            </a:xfrm>
            <a:prstGeom prst="rect">
              <a:avLst/>
            </a:prstGeom>
          </p:spPr>
          <p:txBody>
            <a:bodyPr lIns="57811" tIns="57811" rIns="57811" bIns="5781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942619" y="4868998"/>
            <a:ext cx="525539" cy="511744"/>
          </a:xfrm>
          <a:custGeom>
            <a:avLst/>
            <a:gdLst/>
            <a:ahLst/>
            <a:cxnLst/>
            <a:rect l="l" t="t" r="r" b="b"/>
            <a:pathLst>
              <a:path w="525539" h="511744">
                <a:moveTo>
                  <a:pt x="0" y="0"/>
                </a:moveTo>
                <a:lnTo>
                  <a:pt x="525539" y="0"/>
                </a:lnTo>
                <a:lnTo>
                  <a:pt x="525539" y="511743"/>
                </a:lnTo>
                <a:lnTo>
                  <a:pt x="0" y="511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8638196" y="6088704"/>
            <a:ext cx="8684574" cy="1028053"/>
            <a:chOff x="0" y="0"/>
            <a:chExt cx="2107706" cy="2495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07706" cy="249504"/>
            </a:xfrm>
            <a:custGeom>
              <a:avLst/>
              <a:gdLst/>
              <a:ahLst/>
              <a:cxnLst/>
              <a:rect l="l" t="t" r="r" b="b"/>
              <a:pathLst>
                <a:path w="2107706" h="249504">
                  <a:moveTo>
                    <a:pt x="0" y="0"/>
                  </a:moveTo>
                  <a:lnTo>
                    <a:pt x="2107706" y="0"/>
                  </a:lnTo>
                  <a:lnTo>
                    <a:pt x="2107706" y="249504"/>
                  </a:lnTo>
                  <a:lnTo>
                    <a:pt x="0" y="2495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07706" cy="287604"/>
            </a:xfrm>
            <a:prstGeom prst="rect">
              <a:avLst/>
            </a:prstGeom>
          </p:spPr>
          <p:txBody>
            <a:bodyPr lIns="57811" tIns="57811" rIns="57811" bIns="5781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8929964" y="6346859"/>
            <a:ext cx="525539" cy="511744"/>
          </a:xfrm>
          <a:custGeom>
            <a:avLst/>
            <a:gdLst/>
            <a:ahLst/>
            <a:cxnLst/>
            <a:rect l="l" t="t" r="r" b="b"/>
            <a:pathLst>
              <a:path w="525539" h="511744">
                <a:moveTo>
                  <a:pt x="0" y="0"/>
                </a:moveTo>
                <a:lnTo>
                  <a:pt x="525539" y="0"/>
                </a:lnTo>
                <a:lnTo>
                  <a:pt x="525539" y="511744"/>
                </a:lnTo>
                <a:lnTo>
                  <a:pt x="0" y="51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8638196" y="8697261"/>
            <a:ext cx="8684574" cy="1028053"/>
            <a:chOff x="0" y="0"/>
            <a:chExt cx="2107706" cy="2495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07706" cy="249504"/>
            </a:xfrm>
            <a:custGeom>
              <a:avLst/>
              <a:gdLst/>
              <a:ahLst/>
              <a:cxnLst/>
              <a:rect l="l" t="t" r="r" b="b"/>
              <a:pathLst>
                <a:path w="2107706" h="249504">
                  <a:moveTo>
                    <a:pt x="0" y="0"/>
                  </a:moveTo>
                  <a:lnTo>
                    <a:pt x="2107706" y="0"/>
                  </a:lnTo>
                  <a:lnTo>
                    <a:pt x="2107706" y="249504"/>
                  </a:lnTo>
                  <a:lnTo>
                    <a:pt x="0" y="2495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107706" cy="287604"/>
            </a:xfrm>
            <a:prstGeom prst="rect">
              <a:avLst/>
            </a:prstGeom>
          </p:spPr>
          <p:txBody>
            <a:bodyPr lIns="57811" tIns="57811" rIns="57811" bIns="5781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8929964" y="8955416"/>
            <a:ext cx="525539" cy="511744"/>
          </a:xfrm>
          <a:custGeom>
            <a:avLst/>
            <a:gdLst/>
            <a:ahLst/>
            <a:cxnLst/>
            <a:rect l="l" t="t" r="r" b="b"/>
            <a:pathLst>
              <a:path w="525539" h="511744">
                <a:moveTo>
                  <a:pt x="0" y="0"/>
                </a:moveTo>
                <a:lnTo>
                  <a:pt x="525539" y="0"/>
                </a:lnTo>
                <a:lnTo>
                  <a:pt x="525539" y="511744"/>
                </a:lnTo>
                <a:lnTo>
                  <a:pt x="0" y="51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28700" y="411887"/>
            <a:ext cx="1233359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BUSINESS RULES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50416" y="2146149"/>
            <a:ext cx="6335953" cy="42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Quotation must exist before policy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47271" y="3380057"/>
            <a:ext cx="7307503" cy="42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sz="247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Policy created only from accepted/converted quotation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1343" y="4161479"/>
            <a:ext cx="5646757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1E3A8A"/>
                </a:solidFill>
                <a:latin typeface="Cabin Bold"/>
                <a:ea typeface="Cabin Bold"/>
                <a:cs typeface="Cabin Bold"/>
                <a:sym typeface="Cabin Bold"/>
              </a:rPr>
              <a:t>Confirmed Rules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50416" y="7669208"/>
            <a:ext cx="6335953" cy="42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Payment belongs to policy; starts as PENDING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50416" y="4705877"/>
            <a:ext cx="7797454" cy="86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sz="247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ISSUED ≠ ACTIVE — activation depends on payment &amp; start date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50416" y="6367519"/>
            <a:ext cx="7797454" cy="42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EXPIRED = natural end ≠ CANCELLED = early termination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50416" y="8757001"/>
            <a:ext cx="7824371" cy="86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Cancellation record must include date, reason, refund 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08907" y="6966857"/>
            <a:ext cx="19305814" cy="3503165"/>
            <a:chOff x="0" y="0"/>
            <a:chExt cx="5084659" cy="9226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4659" cy="922644"/>
            </a:xfrm>
            <a:custGeom>
              <a:avLst/>
              <a:gdLst/>
              <a:ahLst/>
              <a:cxnLst/>
              <a:rect l="l" t="t" r="r" b="b"/>
              <a:pathLst>
                <a:path w="5084659" h="922644">
                  <a:moveTo>
                    <a:pt x="0" y="0"/>
                  </a:moveTo>
                  <a:lnTo>
                    <a:pt x="5084659" y="0"/>
                  </a:lnTo>
                  <a:lnTo>
                    <a:pt x="5084659" y="922644"/>
                  </a:lnTo>
                  <a:lnTo>
                    <a:pt x="0" y="922644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84659" cy="970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82480" y="2951720"/>
            <a:ext cx="8923040" cy="187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99"/>
              </a:lnSpc>
            </a:pPr>
            <a:r>
              <a:rPr lang="en-US" sz="10999" b="1">
                <a:solidFill>
                  <a:srgbClr val="6A1F7A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970429" y="-1187099"/>
            <a:ext cx="2374198" cy="237419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99087" y="-1187099"/>
            <a:ext cx="2374198" cy="237419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6A1F7A">
                    <a:alpha val="100000"/>
                  </a:srgbClr>
                </a:gs>
                <a:gs pos="100000">
                  <a:srgbClr val="D6001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177520" y="1523977"/>
            <a:ext cx="1221566" cy="440273"/>
          </a:xfrm>
          <a:custGeom>
            <a:avLst/>
            <a:gdLst/>
            <a:ahLst/>
            <a:cxnLst/>
            <a:rect l="l" t="t" r="r" b="b"/>
            <a:pathLst>
              <a:path w="1221566" h="440273">
                <a:moveTo>
                  <a:pt x="0" y="0"/>
                </a:moveTo>
                <a:lnTo>
                  <a:pt x="1221567" y="0"/>
                </a:lnTo>
                <a:lnTo>
                  <a:pt x="1221567" y="440272"/>
                </a:lnTo>
                <a:lnTo>
                  <a:pt x="0" y="440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1594964" y="5527247"/>
            <a:ext cx="3189928" cy="3335872"/>
          </a:xfrm>
          <a:custGeom>
            <a:avLst/>
            <a:gdLst/>
            <a:ahLst/>
            <a:cxnLst/>
            <a:rect l="l" t="t" r="r" b="b"/>
            <a:pathLst>
              <a:path w="3189928" h="3335872">
                <a:moveTo>
                  <a:pt x="0" y="0"/>
                </a:moveTo>
                <a:lnTo>
                  <a:pt x="3189928" y="0"/>
                </a:lnTo>
                <a:lnTo>
                  <a:pt x="3189928" y="3335873"/>
                </a:lnTo>
                <a:lnTo>
                  <a:pt x="0" y="333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93036" y="5298921"/>
            <a:ext cx="3189928" cy="3335872"/>
          </a:xfrm>
          <a:custGeom>
            <a:avLst/>
            <a:gdLst/>
            <a:ahLst/>
            <a:cxnLst/>
            <a:rect l="l" t="t" r="r" b="b"/>
            <a:pathLst>
              <a:path w="3189928" h="3335872">
                <a:moveTo>
                  <a:pt x="0" y="0"/>
                </a:moveTo>
                <a:lnTo>
                  <a:pt x="3189928" y="0"/>
                </a:lnTo>
                <a:lnTo>
                  <a:pt x="3189928" y="3335872"/>
                </a:lnTo>
                <a:lnTo>
                  <a:pt x="0" y="3335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Custom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Open Sans 1</vt:lpstr>
      <vt:lpstr>Source Sans Pro Bold</vt:lpstr>
      <vt:lpstr>Cabin</vt:lpstr>
      <vt:lpstr>Arial</vt:lpstr>
      <vt:lpstr>Noto Sans Bold</vt:lpstr>
      <vt:lpstr>Noto Sans</vt:lpstr>
      <vt:lpstr>Calibri</vt:lpstr>
      <vt:lpstr>Poppins Bold</vt:lpstr>
      <vt:lpstr>Cabin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[Team 2] - Business_process_instruction_refined</dc:title>
  <cp:lastModifiedBy>221124029130@due.udn.vn</cp:lastModifiedBy>
  <cp:revision>2</cp:revision>
  <dcterms:created xsi:type="dcterms:W3CDTF">2006-08-16T00:00:00Z</dcterms:created>
  <dcterms:modified xsi:type="dcterms:W3CDTF">2026-05-27T08:54:01Z</dcterms:modified>
  <dc:identifier>DAHKyFwXWLM</dc:identifier>
</cp:coreProperties>
</file>